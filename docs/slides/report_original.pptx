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nice = 0</c:f>
              <c:strCache>
                <c:ptCount val="1"/>
                <c:pt idx="0">
                  <c:v>nice = 0</c:v>
                </c:pt>
              </c:strCache>
            </c:strRef>
          </c:tx>
          <c:spPr>
            <a:solidFill>
              <a:srgbClr val="246DA7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4.287</c:v>
                </c:pt>
                <c:pt idx="1">
                  <c:v>2.53</c:v>
                </c:pt>
                <c:pt idx="2">
                  <c:v>3.864</c:v>
                </c:pt>
                <c:pt idx="3">
                  <c:v>3.331</c:v>
                </c:pt>
                <c:pt idx="4">
                  <c:v>4.159</c:v>
                </c:pt>
              </c:numCache>
            </c:numRef>
          </c:val>
        </c:ser>
        <c:ser>
          <c:idx val="1"/>
          <c:order val="1"/>
          <c:tx>
            <c:strRef>
              <c:f>nice = 10</c:f>
              <c:strCache>
                <c:ptCount val="1"/>
                <c:pt idx="0">
                  <c:v>nice = 10</c:v>
                </c:pt>
              </c:strCache>
            </c:strRef>
          </c:tx>
          <c:spPr>
            <a:solidFill>
              <a:srgbClr val="148A95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5.335</c:v>
                </c:pt>
                <c:pt idx="1">
                  <c:v>2.508</c:v>
                </c:pt>
                <c:pt idx="2">
                  <c:v>4.859</c:v>
                </c:pt>
                <c:pt idx="3">
                  <c:v>3.414</c:v>
                </c:pt>
                <c:pt idx="4">
                  <c:v>5.12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4DFE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500">
                    <a:latin typeface="Noto Sans CJK SC"/>
                    <a:ea typeface="Noto Sans CJK SC"/>
                    <a:cs typeface="Noto Sans CJK SC"/>
                  </a:rPr>
                  <a:t>经历时间（秒）</a:t>
                </a:r>
                <a:endParaRPr sz="1500">
                  <a:latin typeface="Noto Sans CJK SC"/>
                  <a:ea typeface="Noto Sans CJK SC"/>
                  <a:cs typeface="Noto Sans CJK SC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25" b="0" i="0" u="none" strike="noStrike" kern="1200" baseline="0">
              <a:solidFill>
                <a:schemeClr val="tx1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845de6-0079-4220-9110-d8f42412d743}"/>
      </c:ext>
    </c:extLst>
  </c:chart>
  <c:spPr>
    <a:solidFill>
      <a:srgbClr val="FFFFFF"/>
    </a:solidFill>
    <a:ln w="0">
      <a:noFill/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本次汇报按报告的3.1到3.6展开。先通过命令观察真实进程，再用系统调用创建与回收进程，然后用队列模拟控制与调度，最后结合多进程日志进行定量对照，并介绍openEuler环境搭建。</a:t>
            </a:r>
          </a:p>
          <a:p>
            <a:r>
              <a:t>资料来源：所附小组实验报告封面及实验目的。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按顺序说明六部分之间的联系。3.1解决看得见，3.2解决建与收，3.3说明状态如何变化，3.4说明谁获得CPU，3.5用日志量化，3.6准备后续系统实验环境。强调每节都把原理、步骤、结果和结论放在一起。</a:t>
            </a:r>
          </a:p>
          <a:p/>
          <a:p>
            <a:r>
              <a:t>资料来源：实验二《Linux进程管理》小组报告，第三章3.1—3.6及对应第四、第五章。仅使用所附报告。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先交代本节实际记录来自独立Debian GNU/Linux 13容器，与其他章节的平台不同。用ps -ef解释PID、PPID、UID和CMD。程序名相同不代表是同一个进程，父子关系需要依据PID与PPID匹配。</a:t>
            </a:r>
          </a:p>
          <a:p/>
          <a:p>
            <a:r>
              <a:t>资料来源：实验二《Linux进程管理》小组报告，3.1、4.1，图3—4。仅使用所附报告。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左侧解释R、S、Z和nice值。右侧上图是ps自定义字段，下图取top上方汇总。报告top样本为23个进程、1个running、22个sleeping、0个zombie。两个截图的采样时刻不同，不能要求统计完全一致。</a:t>
            </a:r>
          </a:p>
          <a:p/>
          <a:p>
            <a:r>
              <a:t>资料来源：实验二《Linux进程管理》小组报告，4.1，图5—6。仅使用所附报告。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左图通过pstree把平面进程列表转为层级。右图观察自己启动的sleep进程，记录PID=1667和S+状态，发送默认SIGTERM后使用wait等待回收，最后ps不再返回该PID。这里的PID是本次运行记录，不是程序的固定编号。</a:t>
            </a:r>
          </a:p>
          <a:p/>
          <a:p>
            <a:r>
              <a:t>资料来源：实验二《Linux进程管理》小组报告，4.1，图7—8。仅使用所附报告。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用报告中三次运行说明PID变化而PPID均为327。同一终端Shell连续启动多个独立的程序实例。先看表，再读右侧输出。不要把PID相邻或不相邻解释为进程间的必然关系。</a:t>
            </a:r>
          </a:p>
          <a:p/>
          <a:p>
            <a:r>
              <a:t>资料来源：实验二《Linux进程管理》小组报告，4.2任务2.1，图12—14。仅使用所附报告。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解释fork返回值：子进程得到0，父进程得到子进程PID。第二次fork只发生在父分支，所以总计3个进程。截图中打印顺序是child1、parent、child2，但这是观测结果，程序没有通过同步约束保证该顺序。</a:t>
            </a:r>
          </a:p>
          <a:p/>
          <a:p>
            <a:r>
              <a:t>资料来源：实验二《Linux进程管理》小组报告，4.2任务2.2，图16—18。仅使用所附报告。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表格重排报告第1次运行的父子标识。两个子进程PPID都等于13451，说明是兄弟进程。子分支exit(0)避免继续执行后续fork，父分支调用两次wait回收两个子进程。右侧展示无显式同步时多次执行的输出。</a:t>
            </a:r>
          </a:p>
          <a:p/>
          <a:p>
            <a:r>
              <a:t>资料来源：实验二《Linux进程管理》小组报告，4.2任务2.2—2.3，图18、图20。仅使用所附报告。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明制造观测窗口的方法：子进程输出后退出，父进程sleep(20)且未立即wait。ps查询到PID=13756，STAT为Z+，CMD含defunct。截图上方新建子进程输出为13765，与查询对象不同，不能据此验证同一次创建的对应关系。保留终止记录供父进程回收不等于程序仍在运行。</a:t>
            </a:r>
          </a:p>
          <a:p/>
          <a:p>
            <a:r>
              <a:t>资料来源：实验二《Linux进程管理》小组报告，4.2任务2.4，图24。仅使用所附报告。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对照上一页，子进程sleep(5)后exit(5)，父进程wait(&amp;status)读取退出状态。截图里Waited child PID为13842，Child exit status为5。报告输出支持回收成功，但没有连续采样证明瞬时Z状态完全不曾出现，因此汇报只说明完成等待与回收。</a:t>
            </a:r>
          </a:p>
          <a:p/>
          <a:p>
            <a:r>
              <a:t>资料来源：实验二《Linux进程管理》小组报告，4.2任务2.4的预防程序，图25—26。仅使用所附报告。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次讲解init_daemon的五步。fork后父分支退出，子进程setsid创建新会话，chdir切换工作目录，umask设置文件创建掩码，再关闭继承的文件描述符。报告采用共享init.c供两个业务程序调用，业务循环追加日志并sleep(10)。</a:t>
            </a:r>
          </a:p>
          <a:p/>
          <a:p>
            <a:r>
              <a:t>资料来源：实验二《Linux进程管理》小组报告，3.2.5、4.2守护进程部分，图27—29。仅使用所附报告。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为任务1的进程与22条日志，右图为任务2的6条日志。TTY为问号支持其没有控制终端。任务1首尾相差210秒，等于21个10秒间隔；任务2相差50秒，等于5个10秒间隔。两组各自PID保持不变，与ps对应。周期只针对报告记录窗口描述。</a:t>
            </a:r>
          </a:p>
          <a:p/>
          <a:p>
            <a:r>
              <a:t>资料来源：实验二《Linux进程管理》小组报告，4.2守护进程结果，图30—31。仅使用所附报告。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本节是用户态PCB队列模拟，不是修改Linux内核。PCB保存name、state、ntime、rtime和link。ready队首代表当前运行者，其余进程就绪；stop保存阻塞进程。图中调度、阻塞和唤醒解释状态变化，完成时进程离开队列。</a:t>
            </a:r>
          </a:p>
          <a:p/>
          <a:p>
            <a:r>
              <a:t>资料来源：实验二《Linux进程管理》小组报告，3.3、4.3.1—4.3.2。仅使用所附报告。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右代码均为报告图32中的关键分支摘录。block把ready队首移入阻塞队尾；wake把stop队首移到就绪队尾。讲解p暂存结点、头指针前移、link断开、尾指针接入的顺序。报告截图的block未展示空就绪队列保护和pfend重置，后续需要完善，不能把全部边界都当作已通过。</a:t>
            </a:r>
          </a:p>
          <a:p/>
          <a:p>
            <a:r>
              <a:t>资料来源：实验二《Linux进程管理》小组报告，4.3.2，图32。仅使用所附报告。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输入thefirst=2、thesecond=1、thethird=3。按s后thefirst阻塞，thesecond完成，再由thethird运行。按w后thefirst回到就绪队尾，不抢占thethird。最后空阻塞队列再次按w会提示而不唤醒任何进程，随后全部完成。A、B、C为便于展示的简称。</a:t>
            </a:r>
          </a:p>
          <a:p/>
          <a:p>
            <a:r>
              <a:t>资料来源：实验二《Linux进程管理》小组报告，4.3.3—4.3.5，图34—37、表38。仅使用所附报告。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本节继续使用PCB链表模拟。FCFS新结点插入队尾，当前进程完成后切换到下一结点。截图显示w1完成前w2、w3和新加入的d4保持等待。使用规则流程而不补造报告未给出的完整函数实现。</a:t>
            </a:r>
          </a:p>
          <a:p/>
          <a:p>
            <a:r>
              <a:t>资料来源：实验二《Linux进程管理》小组报告，4.4.1—4.4.2，图40—45。仅使用所附报告。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实现非抢占SJF，按ntime排序等待进程，但已开始运行的队首不能因新进程插入而被替换。右图显示新加入的短进程e1优先运行的观测结果。这里的结论是规则验证，报告没有提供统一负载下平均等待时间的实测对比。</a:t>
            </a:r>
          </a:p>
          <a:p/>
          <a:p>
            <a:r>
              <a:t>资料来源：实验二《Linux进程管理》小组报告，4.4.3，图46—48。仅使用所附报告。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右图显示r1运行到rtime=2、ltime=0后，r2获得运行机会，随后r1继续完成。截图字段为ltime，报告文字题目使用etime，讲解以实际字段更新为准。左侧时间顺序按报告截图重排，用于解释轮转过程，不是新增测量。</a:t>
            </a:r>
          </a:p>
          <a:p/>
          <a:p>
            <a:r>
              <a:t>资料来源：实验二《Linux进程管理》小组报告，4.4.4，图49—50。仅使用所附报告。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横向对比选择依据、是否抢占、队列操作和局限。报告截图验证了各自规则，尚未给出完全相同负载下的等待时间、周转时间或吞吐量数据，因此不做性能排名。通过这一页过渡到3.5：接下来介绍如何记录事件并做定量比较。</a:t>
            </a:r>
          </a:p>
          <a:p/>
          <a:p>
            <a:r>
              <a:t>资料来源：实验二《Linux进程管理》小组报告，3.4、4.4.5、5.1.4。仅使用所附报告。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组多进程样本的架构页。父进程fork五个子进程，各自交替执行CPU计算和sleep。所有事件写入CSV，由分析脚本按PID和编号汇总。父进程waitpid逐个回收。控制组固定负载与CPU亲和性，仅改变nice值。该记录是普通Linux用户态实验，不是Linux0.11内核调度日志。</a:t>
            </a:r>
          </a:p>
          <a:p/>
          <a:p>
            <a:r>
              <a:t>资料来源：实验二《Linux进程管理》小组报告，3.5、4.5.1—4.5.9。仅使用所附报告。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报告截图显示此部分运行在Debian GNU/Linux13 x86_64环境。使用严格编译选项，--check输出SELFTEST OK与五组负载。对照时两组都固定到CPU0，负载相同，nice分别为0与10。平台栏目不等于截图运行环境，应按报告实际记录说明。</a:t>
            </a:r>
          </a:p>
          <a:p/>
          <a:p>
            <a:r>
              <a:t>资料来源：实验二《Linux进程管理》小组报告，4.5.1—4.5.2、4.5.5—4.5.6，图51—52。仅使用所附报告。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截图记录父进程4456创建了4458到4462五个子进程。子进程PPID均为4456，ps里同时看到R+和S+。CPU计算与sleep阶段使不同子进程处于不同状态，单次ps只能提供瞬间证据，不能恢复整个调度过程。</a:t>
            </a:r>
          </a:p>
          <a:p/>
          <a:p>
            <a:r>
              <a:t>资料来源：实验二《Linux进程管理》小组报告，4.5.3，图53。仅使用所附报告。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事件包含START、CPU_BEGIN、CPU_END、IO_SLEEP_BEGIN、IO_SLEEP_END和EXIT。按PID及子进程编号归组，EXIT减START得到经历时间。这个指标包含CPU执行、睡眠和调度等待，不能称为纯CPU运行时间。父进程回收输出与CSV可以互相核对。</a:t>
            </a:r>
          </a:p>
          <a:p/>
          <a:p>
            <a:r>
              <a:t>资料来源：实验二《Linux进程管理》小组报告，3.5、4.5.4、4.5.7，图54、图57。仅使用所附报告。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报告表59重绘可编辑柱状图。nice0五个值为4.287、2.530、3.864、3.331、4.159秒，nice10为5.335、2.508、4.859、3.414、5.120秒。均值从3.634到4.247秒，增加0.613秒，约16.9%。P2略减，说明不能说所有进程都变慢。只有单轮样本，不构成稳定的调度性能排名。</a:t>
            </a:r>
          </a:p>
          <a:p/>
          <a:p>
            <a:r>
              <a:t>资料来源：实验二《Linux进程管理》小组报告，4.5.9，表59及图55—57。仅使用所附报告。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上一页图和报告中的统计输出对上，再说明两组CSV均47行含表头，脚本通过语法检查，样本进程已经退出。报告有一轮对照，没有多轮方差或置信区间，所以改进路线是重复测量和控制竞争负载，不能据此声称某个nice参数稳定快16.9%。</a:t>
            </a:r>
          </a:p>
          <a:p/>
          <a:p>
            <a:r>
              <a:t>资料来源：实验二《Linux进程管理》小组报告，4.5.7—4.5.9，图57—58。仅使用所附报告。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本节实际安装openEuler24.03LTSSP3的x86_64镜像。虽然报告平台栏目称华为鲲鹏，当前截图并非ARM硬件迁移或应用兼容性测试。VMware的CentOS7兼容类型不等于所装系统，后面用release文件确认发行版。</a:t>
            </a:r>
          </a:p>
          <a:p/>
          <a:p>
            <a:r>
              <a:t>资料来源：实验二《Linux进程管理》小组报告，3.6、4.6.1—4.6.2，图60—61。仅使用所附报告。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安装摘要讲解语言、时区、安装源、服务器软件选择、自动分区、联网和用户创建。服务器安装没有图形桌面，所以启动后命令行界面符合本次选择。root已设置密码且创建student管理员用户，汇报不显示密码值。</a:t>
            </a:r>
          </a:p>
          <a:p/>
          <a:p>
            <a:r>
              <a:t>资料来源：实验二《Linux进程管理》小组报告，4.6.3，图62。仅使用所附报告。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顶部截图保留release与IP查询，底部保留ping最终统计。系统文件显示openEuler24.03LTSSP3，ens33为192.168.230.128/24，ping4发4收，丢包0%。这能说明虚拟机出网正常，但不能单独证明Windows主机已经能SSH连入。</a:t>
            </a:r>
          </a:p>
          <a:p/>
          <a:p>
            <a:r>
              <a:t>资料来源：实验二《Linux进程管理》小组报告，4.6.4，图63。仅使用所附报告。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依次说明dnf的软件源可用，sshd处于active running并监听22端口，firewalld中ssh已放行，reload成功。ALREADY_ENABLED不是失败，表示规则已经存在。主机连接仍依赖VMnet8可达、端口转发或桥接，本报告未给出主机登录成功的证据。</a:t>
            </a:r>
          </a:p>
          <a:p/>
          <a:p>
            <a:r>
              <a:t>资料来源：实验二《Linux进程管理》小组报告，4.6.5—4.6.7，图64—66、表67。仅使用所附报告。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六节的共同主线：进程有独立身份，生命周期由创建、执行、等待和回收组成；队列与调度规则决定运行次序；定量分析必须交代环境、控制条件和指标定义。后续工作分为队列边界完善、多轮对照和虚拟机环境快照。分工沿用报告：陈心怡负责1.2、1.3、1.6，杨骅负责1.2，李玥辰负责1.1与蓝桥云部分，李金盘负责1.4，全体参与排版。</a:t>
            </a:r>
          </a:p>
          <a:p/>
          <a:p>
            <a:r>
              <a:t>资料来源：实验二《Linux进程管理》小组报告，第五章实验总结与分工。仅使用所附报告。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0"/>
          <p:cNvSpPr>
            <a:spLocks noGrp="1"/>
          </p:cNvSpPr>
          <p:nvPr/>
        </p:nvSpPr>
        <p:spPr>
          <a:xfrm>
            <a:off x="666750" y="619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上海电力大学  人工智能学部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66750" y="1762125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操作系统原理 · 实验二</a:t>
            </a:r>
            <a:endParaRPr sz="2250" b="0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09600" y="2505075"/>
            <a:ext cx="10972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Linux 进程管理</a:t>
            </a:r>
            <a:endParaRPr sz="54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66750" y="36385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进程观察、控制、调度与运行验证</a:t>
            </a:r>
            <a:endParaRPr sz="240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4667250"/>
            <a:ext cx="10858500" cy="9525"/>
          </a:xfrm>
          <a:prstGeom prst="rect">
            <a:avLst/>
          </a:prstGeom>
          <a:solidFill>
            <a:srgbClr val="246DA7"/>
          </a:solidFill>
          <a:ln w="0">
            <a:noFill/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666750" y="50482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陈心怡    杨骅    李金盘    李玥辰</a:t>
            </a:r>
            <a:endParaRPr sz="2025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66750" y="554355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数据科学与大数据技术 2024371 班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实验路线图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六个章节对应六项实验能力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66750" y="15049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3.1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1866900" y="15049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进程观察与管理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191250" y="15430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进程列表、状态、资源和父子层级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057400"/>
            <a:ext cx="108585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8" name="text-7"/>
          <p:cNvSpPr>
            <a:spLocks noGrp="1"/>
          </p:cNvSpPr>
          <p:nvPr/>
        </p:nvSpPr>
        <p:spPr>
          <a:xfrm>
            <a:off x="666750" y="21907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1866900" y="21907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系统调用与生命周期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6191250" y="22288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创建、等待、回收、僵尸与守护进程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743200"/>
            <a:ext cx="108585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2" name="text-11"/>
          <p:cNvSpPr>
            <a:spLocks noGrp="1"/>
          </p:cNvSpPr>
          <p:nvPr/>
        </p:nvSpPr>
        <p:spPr>
          <a:xfrm>
            <a:off x="666750" y="28765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3.3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1866900" y="28765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进程状态转换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6191250" y="29146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PCB、就绪队列、阻塞队列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" y="3429000"/>
            <a:ext cx="108585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6" name="text-15"/>
          <p:cNvSpPr>
            <a:spLocks noGrp="1"/>
          </p:cNvSpPr>
          <p:nvPr/>
        </p:nvSpPr>
        <p:spPr>
          <a:xfrm>
            <a:off x="666750" y="35623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3.4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1866900" y="35623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三种调度算法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6191250" y="36004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FCFS、SJF、RR的队列规则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4114800"/>
            <a:ext cx="108585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20" name="text-19"/>
          <p:cNvSpPr>
            <a:spLocks noGrp="1"/>
          </p:cNvSpPr>
          <p:nvPr/>
        </p:nvSpPr>
        <p:spPr>
          <a:xfrm>
            <a:off x="666750" y="42481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-20"/>
          <p:cNvSpPr>
            <a:spLocks noGrp="1"/>
          </p:cNvSpPr>
          <p:nvPr/>
        </p:nvSpPr>
        <p:spPr>
          <a:xfrm>
            <a:off x="1866900" y="42481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多进程实验与定量对照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6191250" y="42862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事件轨迹、经历时间和nice对照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4800600"/>
            <a:ext cx="108585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24" name="text-23"/>
          <p:cNvSpPr>
            <a:spLocks noGrp="1"/>
          </p:cNvSpPr>
          <p:nvPr/>
        </p:nvSpPr>
        <p:spPr>
          <a:xfrm>
            <a:off x="666750" y="49339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</a:t>
            </a:r>
            <a:endParaRPr sz="232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-24"/>
          <p:cNvSpPr>
            <a:spLocks noGrp="1"/>
          </p:cNvSpPr>
          <p:nvPr/>
        </p:nvSpPr>
        <p:spPr>
          <a:xfrm>
            <a:off x="1866900" y="49339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openEuler环境搭建</a:t>
            </a:r>
            <a:endParaRPr sz="21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-25"/>
          <p:cNvSpPr>
            <a:spLocks noGrp="1"/>
          </p:cNvSpPr>
          <p:nvPr/>
        </p:nvSpPr>
        <p:spPr>
          <a:xfrm>
            <a:off x="6191250" y="497205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虚拟机安装及系统服务验证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3.1 进程观察与管理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进程身份与父子关系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906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环境确认</a:t>
            </a:r>
            <a:endParaRPr sz="202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1981200"/>
            <a:ext cx="4191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uname识别内核，os-release识别发行版</a:t>
            </a:r>
            <a:endParaRPr sz="180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7813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身份字段</a:t>
            </a:r>
            <a:endParaRPr sz="202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171825"/>
            <a:ext cx="4191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PID标识进程，PPID指向父进程</a:t>
            </a:r>
            <a:endParaRPr sz="180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39719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同名实例</a:t>
            </a:r>
            <a:endParaRPr sz="202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4362450"/>
            <a:ext cx="4191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相同CMD可以对应多个不同PID</a:t>
            </a:r>
            <a:endParaRPr sz="180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0" y="1956979"/>
            <a:ext cx="6343650" cy="2601141"/>
          </a:xfrm>
          <a:prstGeom prst="rect">
            <a:avLst/>
          </a:prstGeom>
        </p:spPr>
      </p:pic>
      <p:sp>
        <p:nvSpPr>
          <p:cNvPr id="11" name="text-9"/>
          <p:cNvSpPr>
            <a:spLocks noGrp="1"/>
          </p:cNvSpPr>
          <p:nvPr/>
        </p:nvSpPr>
        <p:spPr>
          <a:xfrm>
            <a:off x="5238750" y="4905375"/>
            <a:ext cx="634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报告图4：ps -ef 的实际输出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38750" y="5324475"/>
            <a:ext cx="6343650" cy="57150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13" name="text-11"/>
          <p:cNvSpPr>
            <a:spLocks noGrp="1"/>
          </p:cNvSpPr>
          <p:nvPr/>
        </p:nvSpPr>
        <p:spPr>
          <a:xfrm>
            <a:off x="5410200" y="54768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ps -ef</a:t>
            </a:r>
            <a:endParaRPr sz="12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ps -eo pid,ppid,stat,ni,%cpu,%mem,comm</a:t>
            </a:r>
            <a:endParaRPr sz="12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5" name="text-13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先确认实验环境，再用 PID / PPID 识别进程及其创建关系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3.1 进程观察与管理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状态与资源：ps 快照和 top 采样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81150"/>
          <a:ext cx="4191000" cy="3762378"/>
        </p:xfrm>
        <a:graphic>
          <a:graphicData uri="http://schemas.openxmlformats.org/drawingml/2006/table">
            <a:tbl>
              <a:tblPr/>
              <a:tblGrid>
                <a:gridCol w="1476375"/>
                <a:gridCol w="2714625"/>
              </a:tblGrid>
              <a:tr h="627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字段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运行或可运行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可中断睡眠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退出但尚未回收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NI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nice值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%CPU / %MEM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资源指标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7042" y="1476375"/>
            <a:ext cx="6266117" cy="2419350"/>
          </a:xfrm>
          <a:prstGeom prst="rect">
            <a:avLst/>
          </a:prstGeom>
        </p:spPr>
      </p:pic>
      <p:sp>
        <p:nvSpPr>
          <p:cNvPr id="6" name="text-3"/>
          <p:cNvSpPr>
            <a:spLocks noGrp="1"/>
          </p:cNvSpPr>
          <p:nvPr/>
        </p:nvSpPr>
        <p:spPr>
          <a:xfrm>
            <a:off x="5257800" y="3971925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ps：按进程读取状态与资源字段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026" y="4257675"/>
            <a:ext cx="5512147" cy="1362075"/>
          </a:xfrm>
          <a:prstGeom prst="rect">
            <a:avLst/>
          </a:prstGeom>
        </p:spPr>
      </p:pic>
      <p:sp>
        <p:nvSpPr>
          <p:cNvPr id="8" name="text-4"/>
          <p:cNvSpPr>
            <a:spLocks noGrp="1"/>
          </p:cNvSpPr>
          <p:nvPr/>
        </p:nvSpPr>
        <p:spPr>
          <a:xfrm>
            <a:off x="5257800" y="5695950"/>
            <a:ext cx="632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top：23 total，1 running，22 sleeping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6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S 表示睡眠等待；ps 与 top 都只反映各自采样时刻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3.1 进程观察与管理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父子层级与临时进程的退出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144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父子关系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38737"/>
            <a:ext cx="5257800" cy="1380426"/>
          </a:xfrm>
          <a:prstGeom prst="rect">
            <a:avLst/>
          </a:prstGeom>
        </p:spPr>
      </p:pic>
      <p:sp>
        <p:nvSpPr>
          <p:cNvPr id="6" name="text-4"/>
          <p:cNvSpPr>
            <a:spLocks noGrp="1"/>
          </p:cNvSpPr>
          <p:nvPr/>
        </p:nvSpPr>
        <p:spPr>
          <a:xfrm>
            <a:off x="609600" y="4171950"/>
            <a:ext cx="525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报告图7：pstree 的局部输出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6324600" y="15144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创建、观察、终止与回收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2802"/>
            <a:ext cx="5257800" cy="1912296"/>
          </a:xfrm>
          <a:prstGeom prst="rect">
            <a:avLst/>
          </a:prstGeom>
        </p:spPr>
      </p:pic>
      <p:sp>
        <p:nvSpPr>
          <p:cNvPr id="9" name="text-6"/>
          <p:cNvSpPr>
            <a:spLocks noGrp="1"/>
          </p:cNvSpPr>
          <p:nvPr/>
        </p:nvSpPr>
        <p:spPr>
          <a:xfrm>
            <a:off x="6324600" y="4171950"/>
            <a:ext cx="525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报告图8：sleep 测试进程的退出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657725"/>
            <a:ext cx="5257800" cy="76200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11" name="text-8"/>
          <p:cNvSpPr>
            <a:spLocks noGrp="1"/>
          </p:cNvSpPr>
          <p:nvPr/>
        </p:nvSpPr>
        <p:spPr>
          <a:xfrm>
            <a:off x="781050" y="4810125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pstree -ap</a:t>
            </a:r>
            <a:endParaRPr sz="172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24600" y="4657725"/>
            <a:ext cx="5257800" cy="904875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13" name="text-10"/>
          <p:cNvSpPr>
            <a:spLocks noGrp="1"/>
          </p:cNvSpPr>
          <p:nvPr/>
        </p:nvSpPr>
        <p:spPr>
          <a:xfrm>
            <a:off x="6496050" y="4810125"/>
            <a:ext cx="4914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sleep 90 &amp; demo_pid=$!</a:t>
            </a:r>
            <a:endParaRPr sz="15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kill "$demo_pid"; wait "$demo_pid"</a:t>
            </a:r>
            <a:endParaRPr sz="15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5" name="text-12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进程管理既要观察结构，也要确认测试进程完成退出与回收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getpid / getppid：实例变化，父进程保持一致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43050"/>
            <a:ext cx="5429250" cy="97155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781050" y="1695450"/>
            <a:ext cx="5086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printf("PID=%d\n", getpid());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printf("PPID=%d\n", getppid());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924175"/>
          <a:ext cx="5429250" cy="2428876"/>
        </p:xfrm>
        <a:graphic>
          <a:graphicData uri="http://schemas.openxmlformats.org/drawingml/2006/table">
            <a:tbl>
              <a:tblPr/>
              <a:tblGrid>
                <a:gridCol w="1762125"/>
                <a:gridCol w="1809750"/>
                <a:gridCol w="1857375"/>
              </a:tblGrid>
              <a:tr h="6072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运行次数</a:t>
                      </a:r>
                      <a:endParaRPr sz="18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PID</a:t>
                      </a:r>
                      <a:endParaRPr sz="18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PPID</a:t>
                      </a:r>
                      <a:endParaRPr sz="18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第一次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2108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327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第二次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13097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327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第三次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13107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327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50" y="1702712"/>
            <a:ext cx="4972050" cy="918927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610350" y="2752725"/>
            <a:ext cx="497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第一次运行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3178493"/>
            <a:ext cx="4972050" cy="939165"/>
          </a:xfrm>
          <a:prstGeom prst="rect">
            <a:avLst/>
          </a:prstGeom>
        </p:spPr>
      </p:pic>
      <p:sp>
        <p:nvSpPr>
          <p:cNvPr id="10" name="text-6"/>
          <p:cNvSpPr>
            <a:spLocks noGrp="1"/>
          </p:cNvSpPr>
          <p:nvPr/>
        </p:nvSpPr>
        <p:spPr>
          <a:xfrm>
            <a:off x="6610350" y="4200525"/>
            <a:ext cx="497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第二次运行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64" y="4695825"/>
            <a:ext cx="3824023" cy="923925"/>
          </a:xfrm>
          <a:prstGeom prst="rect">
            <a:avLst/>
          </a:prstGeom>
        </p:spPr>
      </p:pic>
      <p:sp>
        <p:nvSpPr>
          <p:cNvPr id="12" name="text-7"/>
          <p:cNvSpPr>
            <a:spLocks noGrp="1"/>
          </p:cNvSpPr>
          <p:nvPr/>
        </p:nvSpPr>
        <p:spPr>
          <a:xfrm>
            <a:off x="6610350" y="5695950"/>
            <a:ext cx="497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第三次运行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4" name="text-9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PID 对应执行实例；三次 PPID=327 对应同一个启动它们的 Shell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1" name="肘形连接符 10"/>
          <p:cNvCxnSpPr>
            <a:stCxn id="7" idx="2"/>
            <a:endCxn id="9" idx="0"/>
          </p:cNvCxnSpPr>
          <p:nvPr/>
        </p:nvCxnSpPr>
        <p:spPr>
          <a:xfrm>
            <a:off x="8829675" y="2238375"/>
            <a:ext cx="1804988" cy="609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0" name="肘形连接符 9"/>
          <p:cNvCxnSpPr>
            <a:stCxn id="7" idx="2"/>
            <a:endCxn id="8" idx="0"/>
          </p:cNvCxnSpPr>
          <p:nvPr/>
        </p:nvCxnSpPr>
        <p:spPr>
          <a:xfrm flipH="1">
            <a:off x="7591425" y="2238375"/>
            <a:ext cx="1238250" cy="609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sp>
        <p:nvSpPr>
          <p:cNvPr id="1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fork：父进程连续创建两个子进程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049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关键分支摘录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924050"/>
            <a:ext cx="5429250" cy="3267075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781050" y="2076450"/>
            <a:ext cx="508635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pid1 = fork();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if (pid1 == 0) {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printf("child1\n");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} else {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pid2 = fork();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if (pid2 == 0)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    printf("child2\n");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else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    printf("parent\n");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}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77175" y="1619250"/>
            <a:ext cx="1905000" cy="619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父进程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38925" y="2847975"/>
            <a:ext cx="1905000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child1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86925" y="2847975"/>
            <a:ext cx="1895475" cy="628650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child2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0" y="4065588"/>
            <a:ext cx="4857750" cy="1127125"/>
          </a:xfrm>
          <a:prstGeom prst="rect">
            <a:avLst/>
          </a:prstGeom>
        </p:spPr>
      </p:pic>
      <p:sp>
        <p:nvSpPr>
          <p:cNvPr id="13" name="text-11"/>
          <p:cNvSpPr>
            <a:spLocks noGrp="1"/>
          </p:cNvSpPr>
          <p:nvPr/>
        </p:nvSpPr>
        <p:spPr>
          <a:xfrm>
            <a:off x="6667500" y="527685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报告图17：本次输出顺序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5" name="text-13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第二次 fork 位于父分支，因此是一个父进程与两个直接子进程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两个子进程的身份关系与执行分支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71625"/>
          <a:ext cx="5676900" cy="2286000"/>
        </p:xfrm>
        <a:graphic>
          <a:graphicData uri="http://schemas.openxmlformats.org/drawingml/2006/table">
            <a:tbl>
              <a:tblPr/>
              <a:tblGrid>
                <a:gridCol w="1905000"/>
                <a:gridCol w="1885950"/>
                <a:gridCol w="18859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角色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PID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PPID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父进程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13451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子进程A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13452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13451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子进程B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13453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13451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4171950"/>
            <a:ext cx="5676900" cy="1571625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781050" y="4324350"/>
            <a:ext cx="5334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/* 子进程完成自己的分支 */</a:t>
            </a:r>
            <a:endParaRPr sz="15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exit(0);</a:t>
            </a:r>
            <a:endParaRPr sz="15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/* 父进程回收两个子进程 */</a:t>
            </a:r>
            <a:endParaRPr sz="15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wait(NULL);</a:t>
            </a:r>
            <a:endParaRPr sz="15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wait(NULL);</a:t>
            </a:r>
            <a:endParaRPr sz="157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725" y="1807695"/>
            <a:ext cx="4000500" cy="3194985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943725" y="53721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报告图18：多次运行结果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7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创建关系由 PID / PPID 验证；exit 与 wait 分别结束子分支和完成回收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僵尸进程：子进程已退出，父进程尚未回收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71625"/>
            <a:ext cx="5334000" cy="291465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781050" y="1724025"/>
            <a:ext cx="49911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pc = fork();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if (pc == 0) {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printf("child PID=%d\n",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       getpid());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} else {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sleep(20);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/* 此处没有调用 wait */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}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exit(0);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4772025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观察窗口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5162550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在父进程20秒休眠期间查询子进程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0" y="2105352"/>
            <a:ext cx="5162550" cy="1266170"/>
          </a:xfrm>
          <a:prstGeom prst="rect">
            <a:avLst/>
          </a:prstGeom>
        </p:spPr>
      </p:pic>
      <p:sp>
        <p:nvSpPr>
          <p:cNvPr id="9" name="text-7"/>
          <p:cNvSpPr>
            <a:spLocks noGrp="1"/>
          </p:cNvSpPr>
          <p:nvPr/>
        </p:nvSpPr>
        <p:spPr>
          <a:xfrm>
            <a:off x="6419850" y="3609975"/>
            <a:ext cx="516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报告图24：ps 查询到 PID 13756 为 Z+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6705600" y="3990975"/>
            <a:ext cx="4095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Z+</a:t>
            </a:r>
            <a:endParaRPr sz="48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6705600" y="4933950"/>
            <a:ext cx="457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退出状态仍等待父进程读取</a:t>
            </a:r>
            <a:endParaRPr sz="18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-10"/>
          <p:cNvSpPr>
            <a:spLocks noGrp="1"/>
          </p:cNvSpPr>
          <p:nvPr/>
        </p:nvSpPr>
        <p:spPr>
          <a:xfrm>
            <a:off x="6419850" y="5514975"/>
            <a:ext cx="5162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截图新建 PID 与 ps 查询 PID 不同，需复核对应关系</a:t>
            </a:r>
            <a:endParaRPr sz="13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4" name="text-12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僵尸状态的关键是“已经退出但尚未回收”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wait：等待结束并读取退出状态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00200"/>
            <a:ext cx="5638800" cy="3152775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781050" y="1752600"/>
            <a:ext cx="5295900" cy="2867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/* 子进程 */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sleep(5);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exit(5);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endParaRPr sz="1650"/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/* 父进程 */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wpid = wait(&amp;status);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if (wpid &gt; 0 &amp;&amp; WIFEXITED(status))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printf("status=%d\n",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       WEXITSTATUS(status));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0" y="1831189"/>
            <a:ext cx="4819650" cy="1785922"/>
          </a:xfrm>
          <a:prstGeom prst="rect">
            <a:avLst/>
          </a:prstGeom>
        </p:spPr>
      </p:pic>
      <p:sp>
        <p:nvSpPr>
          <p:cNvPr id="7" name="text-5"/>
          <p:cNvSpPr>
            <a:spLocks noGrp="1"/>
          </p:cNvSpPr>
          <p:nvPr/>
        </p:nvSpPr>
        <p:spPr>
          <a:xfrm>
            <a:off x="6762750" y="3752850"/>
            <a:ext cx="481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报告图26：回收 PID 13842，退出码为 5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762750" y="4229100"/>
          <a:ext cx="4819650" cy="1476375"/>
        </p:xfrm>
        <a:graphic>
          <a:graphicData uri="http://schemas.openxmlformats.org/drawingml/2006/table">
            <a:tbl>
              <a:tblPr/>
              <a:tblGrid>
                <a:gridCol w="2552700"/>
                <a:gridCol w="2266950"/>
              </a:tblGrid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返回信息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本次结果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wait返回的PID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13842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WEXITSTATUS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7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wait 同时承担父子进程同步与终止状态回收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直接箭头连接符 15"/>
          <p:cNvCxnSpPr>
            <a:stCxn id="12" idx="3"/>
            <a:endCxn id="15" idx="1"/>
          </p:cNvCxnSpPr>
          <p:nvPr/>
        </p:nvCxnSpPr>
        <p:spPr>
          <a:xfrm>
            <a:off x="9334500" y="2085975"/>
            <a:ext cx="22860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3" name="直接箭头连接符 12"/>
          <p:cNvCxnSpPr>
            <a:stCxn id="9" idx="3"/>
            <a:endCxn id="12" idx="1"/>
          </p:cNvCxnSpPr>
          <p:nvPr/>
        </p:nvCxnSpPr>
        <p:spPr>
          <a:xfrm>
            <a:off x="7096125" y="2085975"/>
            <a:ext cx="22860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0" name="直接箭头连接符 9"/>
          <p:cNvCxnSpPr>
            <a:stCxn id="6" idx="3"/>
            <a:endCxn id="9" idx="1"/>
          </p:cNvCxnSpPr>
          <p:nvPr/>
        </p:nvCxnSpPr>
        <p:spPr>
          <a:xfrm>
            <a:off x="4857750" y="2085975"/>
            <a:ext cx="22860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7" name="直接箭头连接符 6"/>
          <p:cNvCxnSpPr>
            <a:stCxn id="4" idx="3"/>
            <a:endCxn id="6" idx="1"/>
          </p:cNvCxnSpPr>
          <p:nvPr/>
        </p:nvCxnSpPr>
        <p:spPr>
          <a:xfrm>
            <a:off x="2619375" y="2085975"/>
            <a:ext cx="22860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sp>
        <p:nvSpPr>
          <p:cNvPr id="2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守护进程：初始化与业务逻辑分离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24025"/>
            <a:ext cx="2009775" cy="7239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fork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2609850"/>
            <a:ext cx="2009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父分支退出</a:t>
            </a:r>
            <a:endParaRPr sz="15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847975" y="1724025"/>
            <a:ext cx="2009775" cy="7239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setsid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2847975" y="2609850"/>
            <a:ext cx="2009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创建新会话</a:t>
            </a:r>
            <a:endParaRPr sz="15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86350" y="1724025"/>
            <a:ext cx="2009775" cy="7239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chdir("/")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5086350" y="2609850"/>
            <a:ext cx="2009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切换工作目录</a:t>
            </a:r>
            <a:endParaRPr sz="15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24725" y="1724025"/>
            <a:ext cx="2009775" cy="7239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umask(0)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7324725" y="2609850"/>
            <a:ext cx="2009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设置创建掩码</a:t>
            </a:r>
            <a:endParaRPr sz="15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63100" y="1724025"/>
            <a:ext cx="2009775" cy="7239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close(fd)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9563100" y="2609850"/>
            <a:ext cx="2009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关闭继承描述符</a:t>
            </a:r>
            <a:endParaRPr sz="15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609600" y="3695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可复用初始化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4133850"/>
            <a:ext cx="3238500" cy="121920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20" name="text-19"/>
          <p:cNvSpPr>
            <a:spLocks noGrp="1"/>
          </p:cNvSpPr>
          <p:nvPr/>
        </p:nvSpPr>
        <p:spPr>
          <a:xfrm>
            <a:off x="781050" y="4286250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init.c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init_daemon(0);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21" name="text-20"/>
          <p:cNvSpPr>
            <a:spLocks noGrp="1"/>
          </p:cNvSpPr>
          <p:nvPr/>
        </p:nvSpPr>
        <p:spPr>
          <a:xfrm>
            <a:off x="4410075" y="3695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独立业务程序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10075" y="4133850"/>
            <a:ext cx="7172325" cy="154305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23" name="text-22"/>
          <p:cNvSpPr>
            <a:spLocks noGrp="1"/>
          </p:cNvSpPr>
          <p:nvPr/>
        </p:nvSpPr>
        <p:spPr>
          <a:xfrm>
            <a:off x="4581525" y="4286250"/>
            <a:ext cx="6829425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2-5.c / 4-5.c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fopen(path, "a");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fprintf(...); fclose(...);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sleep(10);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25" name="text-24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初始化清理继承环境；业务程序通过日志报告周期任务状态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3.2 系统调用与生命周期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守护进程验证：进程状态与周期日志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53448"/>
            <a:ext cx="4762500" cy="3693954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609600" y="53244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任务1：PID 3526，22 条记录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07350"/>
            <a:ext cx="5486400" cy="1833575"/>
          </a:xfrm>
          <a:prstGeom prst="rect">
            <a:avLst/>
          </a:prstGeom>
        </p:spPr>
      </p:pic>
      <p:sp>
        <p:nvSpPr>
          <p:cNvPr id="7" name="text-4"/>
          <p:cNvSpPr>
            <a:spLocks noGrp="1"/>
          </p:cNvSpPr>
          <p:nvPr/>
        </p:nvSpPr>
        <p:spPr>
          <a:xfrm>
            <a:off x="6096000" y="3686175"/>
            <a:ext cx="548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任务2：PID 3775，6 条记录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0" y="4067175"/>
          <a:ext cx="5486400" cy="17145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600200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核验项目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任务1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任务2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首尾跨度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210 s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 s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日志间隔数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相邻间隔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s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s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6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TTY 与稳定 PID 验证后台运行；日志时间差验证观测窗口内的周期性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0" name="肘形连接符 9"/>
          <p:cNvCxnSpPr>
            <a:stCxn id="7" idx="1"/>
            <a:endCxn id="5" idx="2"/>
          </p:cNvCxnSpPr>
          <p:nvPr/>
        </p:nvCxnSpPr>
        <p:spPr>
          <a:xfrm flipH="1" flipV="1">
            <a:off x="7124700" y="2514600"/>
            <a:ext cx="2447925" cy="2238375"/>
          </a:xfrm>
          <a:prstGeom prst="bentConnector4">
            <a:avLst>
              <a:gd name="adj1" fmla="val 9339"/>
              <a:gd name="adj2" fmla="val 89787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9" name="肘形连接符 8"/>
          <p:cNvCxnSpPr>
            <a:stCxn id="6" idx="2"/>
            <a:endCxn id="7" idx="0"/>
          </p:cNvCxnSpPr>
          <p:nvPr/>
        </p:nvCxnSpPr>
        <p:spPr>
          <a:xfrm>
            <a:off x="9772650" y="2514600"/>
            <a:ext cx="704850" cy="1857375"/>
          </a:xfrm>
          <a:prstGeom prst="bentConnector4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8029575" y="2133600"/>
            <a:ext cx="154305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sp>
        <p:nvSpPr>
          <p:cNvPr id="17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3.3 进程状态转换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PCB 与就绪、阻塞两条队列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47825"/>
          <a:ext cx="4572000" cy="2667000"/>
        </p:xfrm>
        <a:graphic>
          <a:graphicData uri="http://schemas.openxmlformats.org/drawingml/2006/table">
            <a:tbl>
              <a:tblPr/>
              <a:tblGrid>
                <a:gridCol w="2000250"/>
                <a:gridCol w="2571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PCB字段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作用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name / state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名称与状态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ntime / rtime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所需与已运行时间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link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同队列的下一个PCB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219825" y="1752600"/>
            <a:ext cx="1809750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就绪 w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72625" y="1752600"/>
            <a:ext cx="1809750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运行 R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72625" y="4371975"/>
            <a:ext cx="1809750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阻塞 b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8248650" y="1743075"/>
            <a:ext cx="1057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调度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-10"/>
          <p:cNvSpPr>
            <a:spLocks noGrp="1"/>
          </p:cNvSpPr>
          <p:nvPr/>
        </p:nvSpPr>
        <p:spPr>
          <a:xfrm>
            <a:off x="9886950" y="32861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block()</a:t>
            </a:r>
            <a:endParaRPr sz="1650" b="0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-11"/>
          <p:cNvSpPr>
            <a:spLocks noGrp="1"/>
          </p:cNvSpPr>
          <p:nvPr/>
        </p:nvSpPr>
        <p:spPr>
          <a:xfrm>
            <a:off x="6924675" y="41052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wake()</a:t>
            </a:r>
            <a:endParaRPr sz="1650" b="0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-12"/>
          <p:cNvSpPr>
            <a:spLocks noGrp="1"/>
          </p:cNvSpPr>
          <p:nvPr/>
        </p:nvSpPr>
        <p:spPr>
          <a:xfrm>
            <a:off x="609600" y="468630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ready / pfend：就绪队首、队尾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stop / stepend：阻塞队首、队尾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6" name="text-14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状态转换需要同时改变 state 和进程所在链表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3.3 进程状态转换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block / wake 的核心是摘链与挂链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47637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block：阻塞队列非空时的分支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924050"/>
            <a:ext cx="5219700" cy="287655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781050" y="2076450"/>
            <a:ext cx="48768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ready-&gt;state = 'b';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 = ready;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ready = ready-&gt;link;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p-&gt;link = NOTHING;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stepend-&gt;link = p;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stepend = p;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362700" y="1476375"/>
            <a:ext cx="521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wake：就绪队列非空时的分支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62700" y="1924050"/>
            <a:ext cx="5219700" cy="287655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6534150" y="2076450"/>
            <a:ext cx="48768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 = stop;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stop = stop-&gt;link;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p-&gt;state = 'w';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p-&gt;link = NOTHING;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pfend-&gt;link = p;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pfend = p;</a:t>
            </a:r>
            <a:endParaRPr sz="180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609600" y="5172075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空队列、单结点和尾指针需要同步处理；唤醒前先检查阻塞队列是否为空。</a:t>
            </a:r>
            <a:endParaRPr sz="1875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2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实现顺序：保存结点、移动队首、断开旧链、接入新队列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3.3 进程状态转换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三进程实验的状态轨迹与边界验证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57350"/>
          <a:ext cx="7000875" cy="3381378"/>
        </p:xfrm>
        <a:graphic>
          <a:graphicData uri="http://schemas.openxmlformats.org/drawingml/2006/table">
            <a:tbl>
              <a:tblPr/>
              <a:tblGrid>
                <a:gridCol w="1943100"/>
                <a:gridCol w="2105025"/>
                <a:gridCol w="1381125"/>
                <a:gridCol w="1571625"/>
              </a:tblGrid>
              <a:tr h="5635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就绪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阻塞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初始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 1/2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B、C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 s 后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B完成，C运行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 w 后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 2/3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 完成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 2/2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空队列再按 w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提示，不改变队列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248275"/>
            <a:ext cx="700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A=thefirst   B=thesecond   C=thethird</a:t>
            </a:r>
            <a:endParaRPr sz="150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0" y="1892511"/>
            <a:ext cx="3562350" cy="2806278"/>
          </a:xfrm>
          <a:prstGeom prst="rect">
            <a:avLst/>
          </a:prstGeom>
        </p:spPr>
      </p:pic>
      <p:sp>
        <p:nvSpPr>
          <p:cNvPr id="7" name="text-4"/>
          <p:cNvSpPr>
            <a:spLocks noGrp="1"/>
          </p:cNvSpPr>
          <p:nvPr/>
        </p:nvSpPr>
        <p:spPr>
          <a:xfrm>
            <a:off x="8020050" y="4924425"/>
            <a:ext cx="3562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报告图37：空队列提示及全部完成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9" name="text-6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唤醒让进程回到就绪队尾；是否立即运行由当前调度规则决定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3.4 进程调度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FCFS：新进程进入队尾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811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插入规则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1971675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沿link到达队尾，把新PCB接在最后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7146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运行规则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105150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当前进程每次运行一个时间单位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38481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完成判断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4238625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rtime等于ntime后撤销，再运行下一项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62" y="1571625"/>
            <a:ext cx="4959327" cy="4048125"/>
          </a:xfrm>
          <a:prstGeom prst="rect">
            <a:avLst/>
          </a:prstGeom>
        </p:spPr>
      </p:pic>
      <p:sp>
        <p:nvSpPr>
          <p:cNvPr id="11" name="text-9"/>
          <p:cNvSpPr>
            <a:spLocks noGrp="1"/>
          </p:cNvSpPr>
          <p:nvPr/>
        </p:nvSpPr>
        <p:spPr>
          <a:xfrm>
            <a:off x="5619750" y="5695950"/>
            <a:ext cx="546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报告图41：w1 完成前的就绪队列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3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FCFS 保持到达顺序；后到的短进程也需要等待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3.4 进程调度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SJF：等待队列按所需运行时间排序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811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比较依据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1971675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按预计需要运行时间ntime插入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7146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非抢占约束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105150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保留已开始运行的队首进程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38481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主要局限</a:t>
            </a:r>
            <a:endParaRPr sz="19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4238625"/>
            <a:ext cx="4476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持续到来的短任务可能使长任务等待</a:t>
            </a:r>
            <a:endParaRPr sz="17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3234" y="1581150"/>
            <a:ext cx="4579431" cy="4038600"/>
          </a:xfrm>
          <a:prstGeom prst="rect">
            <a:avLst/>
          </a:prstGeom>
        </p:spPr>
      </p:pic>
      <p:sp>
        <p:nvSpPr>
          <p:cNvPr id="11" name="text-9"/>
          <p:cNvSpPr>
            <a:spLocks noGrp="1"/>
          </p:cNvSpPr>
          <p:nvPr/>
        </p:nvSpPr>
        <p:spPr>
          <a:xfrm>
            <a:off x="5981700" y="56959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报告图47：短进程 e1 的运行结果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3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短任务优先选择与当前任务是否可被抢占，是两个不同的实现条件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3.4 进程调度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RR：时间片用尽后回到队尾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18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14500"/>
          <a:ext cx="5810250" cy="2543176"/>
        </p:xfrm>
        <a:graphic>
          <a:graphicData uri="http://schemas.openxmlformats.org/drawingml/2006/table">
            <a:tbl>
              <a:tblPr/>
              <a:tblGrid>
                <a:gridCol w="2076450"/>
                <a:gridCol w="1190625"/>
                <a:gridCol w="2543175"/>
              </a:tblGrid>
              <a:tr h="6357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运行阶段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执行者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行为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前两个时间单位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r1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rtime到2，余量到0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下一时间单位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r2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运行后完成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后续时间单位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r1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继续到rtime=3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4657725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未完成：放回队尾</a:t>
            </a:r>
            <a:endParaRPr sz="2025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已完成：撤销并移出队列</a:t>
            </a:r>
            <a:endParaRPr sz="2025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702" y="1504950"/>
            <a:ext cx="4133646" cy="4114800"/>
          </a:xfrm>
          <a:prstGeom prst="rect">
            <a:avLst/>
          </a:prstGeom>
        </p:spPr>
      </p:pic>
      <p:sp>
        <p:nvSpPr>
          <p:cNvPr id="7" name="text-4"/>
          <p:cNvSpPr>
            <a:spLocks noGrp="1"/>
          </p:cNvSpPr>
          <p:nvPr/>
        </p:nvSpPr>
        <p:spPr>
          <a:xfrm>
            <a:off x="7000875" y="5695950"/>
            <a:ext cx="430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报告图50局部：时间片字段显示为 ltime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9" name="text-6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轮转依靠时间片触发队列调整，避免单个未完成任务一直占用处理机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3.4 进程调度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三种调度算法的规则对比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19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28775"/>
          <a:ext cx="10972800" cy="3486150"/>
        </p:xfrm>
        <a:graphic>
          <a:graphicData uri="http://schemas.openxmlformats.org/drawingml/2006/table">
            <a:tbl>
              <a:tblPr/>
              <a:tblGrid>
                <a:gridCol w="2190750"/>
                <a:gridCol w="2781300"/>
                <a:gridCol w="2952750"/>
                <a:gridCol w="30480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比较维度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FCFS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非抢占 SJF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RR</a:t>
                      </a:r>
                      <a:endParaRPr sz="18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选择依据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到达顺序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预计运行时间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轮转顺序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是否抢占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时间片用尽时轮转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核心队列操作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新进程接队尾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按ntime排序插入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未完成者移队尾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主要特点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实现简单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有利于短任务等待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改善交互响应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主要局限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短任务可能久等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长任务可能饥饿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受时间片长度影响</a:t>
                      </a:r>
                      <a:endParaRPr sz="180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438775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本节验证调度规则。报告未提供同一工作负载下的三算法定量指标。</a:t>
            </a:r>
            <a:endParaRPr sz="1800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7" name="text-5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定量评价还需要统一工作负载、统计口径与重复测量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2" name="直接箭头连接符 21"/>
          <p:cNvCxnSpPr>
            <a:stCxn id="15" idx="3"/>
            <a:endCxn id="16" idx="1"/>
          </p:cNvCxnSpPr>
          <p:nvPr/>
        </p:nvCxnSpPr>
        <p:spPr>
          <a:xfrm>
            <a:off x="5105400" y="4948238"/>
            <a:ext cx="1981200" cy="0"/>
          </a:xfrm>
          <a:prstGeom prst="straightConnector1">
            <a:avLst/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21" name="肘形连接符 20"/>
          <p:cNvCxnSpPr>
            <a:stCxn id="13" idx="2"/>
            <a:endCxn id="15" idx="0"/>
          </p:cNvCxnSpPr>
          <p:nvPr/>
        </p:nvCxnSpPr>
        <p:spPr>
          <a:xfrm flipH="1">
            <a:off x="2857500" y="3619500"/>
            <a:ext cx="7710488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20" name="肘形连接符 19"/>
          <p:cNvCxnSpPr>
            <a:stCxn id="11" idx="2"/>
            <a:endCxn id="15" idx="0"/>
          </p:cNvCxnSpPr>
          <p:nvPr/>
        </p:nvCxnSpPr>
        <p:spPr>
          <a:xfrm flipH="1">
            <a:off x="2857500" y="3619500"/>
            <a:ext cx="5472113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9" name="肘形连接符 18"/>
          <p:cNvCxnSpPr>
            <a:stCxn id="9" idx="2"/>
            <a:endCxn id="15" idx="0"/>
          </p:cNvCxnSpPr>
          <p:nvPr/>
        </p:nvCxnSpPr>
        <p:spPr>
          <a:xfrm flipH="1">
            <a:off x="2857500" y="3619500"/>
            <a:ext cx="3233738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8" name="肘形连接符 17"/>
          <p:cNvCxnSpPr>
            <a:stCxn id="7" idx="2"/>
            <a:endCxn id="15" idx="0"/>
          </p:cNvCxnSpPr>
          <p:nvPr/>
        </p:nvCxnSpPr>
        <p:spPr>
          <a:xfrm flipH="1">
            <a:off x="2857500" y="3619500"/>
            <a:ext cx="995363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7" name="肘形连接符 16"/>
          <p:cNvCxnSpPr>
            <a:stCxn id="5" idx="2"/>
            <a:endCxn id="15" idx="0"/>
          </p:cNvCxnSpPr>
          <p:nvPr/>
        </p:nvCxnSpPr>
        <p:spPr>
          <a:xfrm>
            <a:off x="1614488" y="3619500"/>
            <a:ext cx="1243013" cy="8858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4" name="肘形连接符 13"/>
          <p:cNvCxnSpPr>
            <a:stCxn id="4" idx="2"/>
            <a:endCxn id="13" idx="0"/>
          </p:cNvCxnSpPr>
          <p:nvPr/>
        </p:nvCxnSpPr>
        <p:spPr>
          <a:xfrm>
            <a:off x="6096000" y="2209800"/>
            <a:ext cx="4471988" cy="6572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2" name="肘形连接符 11"/>
          <p:cNvCxnSpPr>
            <a:stCxn id="4" idx="2"/>
            <a:endCxn id="11" idx="0"/>
          </p:cNvCxnSpPr>
          <p:nvPr/>
        </p:nvCxnSpPr>
        <p:spPr>
          <a:xfrm>
            <a:off x="6096000" y="2209800"/>
            <a:ext cx="2233613" cy="6572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10" name="肘形连接符 9"/>
          <p:cNvCxnSpPr>
            <a:stCxn id="4" idx="2"/>
            <a:endCxn id="9" idx="0"/>
          </p:cNvCxnSpPr>
          <p:nvPr/>
        </p:nvCxnSpPr>
        <p:spPr>
          <a:xfrm flipH="1">
            <a:off x="6091238" y="2209800"/>
            <a:ext cx="4763" cy="6572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8" name="肘形连接符 7"/>
          <p:cNvCxnSpPr>
            <a:stCxn id="4" idx="2"/>
            <a:endCxn id="7" idx="0"/>
          </p:cNvCxnSpPr>
          <p:nvPr/>
        </p:nvCxnSpPr>
        <p:spPr>
          <a:xfrm flipH="1">
            <a:off x="3852863" y="2209800"/>
            <a:ext cx="2243138" cy="6572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cxnSp>
        <p:nvCxnSpPr>
          <p:cNvPr id="6" name="肘形连接符 5"/>
          <p:cNvCxnSpPr>
            <a:stCxn id="4" idx="2"/>
            <a:endCxn id="5" idx="0"/>
          </p:cNvCxnSpPr>
          <p:nvPr/>
        </p:nvCxnSpPr>
        <p:spPr>
          <a:xfrm flipH="1">
            <a:off x="1614488" y="2209800"/>
            <a:ext cx="4481513" cy="6572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46DA7"/>
            </a:solidFill>
            <a:prstDash val="solid"/>
            <a:tailEnd type="arrow" w="med" len="med"/>
          </a:ln>
        </p:spPr>
      </p:cxnSp>
      <p:sp>
        <p:nvSpPr>
          <p:cNvPr id="25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五子进程实验的技术架构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514725" y="1457325"/>
            <a:ext cx="5162550" cy="752475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父进程 process_demo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fork 创建 / waitpid 回收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867025"/>
            <a:ext cx="2009775" cy="752475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P1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CPU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847975" y="2867025"/>
            <a:ext cx="2009775" cy="752475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P2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CPU / sleep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86350" y="2867025"/>
            <a:ext cx="2009775" cy="752475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P3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CPU / sleep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24725" y="2867025"/>
            <a:ext cx="2009775" cy="752475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P4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CPU / sleep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63100" y="2867025"/>
            <a:ext cx="2009775" cy="752475"/>
          </a:xfrm>
          <a:prstGeom prst="rect">
            <a:avLst/>
          </a:prstGeom>
          <a:solidFill>
            <a:srgbClr val="FFFFFF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P5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CPU / sleep</a:t>
            </a:r>
            <a:endParaRPr sz="18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505325"/>
            <a:ext cx="4495800" cy="885825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CSV 事件日志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单调时钟、PID、事件类型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86600" y="4505325"/>
            <a:ext cx="4495800" cy="885825"/>
          </a:xfrm>
          <a:prstGeom prst="rect">
            <a:avLst/>
          </a:prstGeom>
          <a:solidFill>
            <a:srgbClr val="EAF2F8"/>
          </a:solidFill>
          <a:ln w="14288">
            <a:solidFill>
              <a:srgbClr val="246DA7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analyze.py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逐进程经历时间及组均值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24" name="text-23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事件采集与统计分析相连，进程创建和回收由父进程统一完成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编译、自检与对照条件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21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90675"/>
            <a:ext cx="10972800" cy="110490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781050" y="1743075"/>
            <a:ext cx="10629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gcc -std=c11 -O2 -Wall -Wextra \</a:t>
            </a:r>
            <a:endParaRPr sz="172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    -Werror process_demo.c -o process_demo</a:t>
            </a:r>
            <a:endParaRPr sz="172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./process_demo --check</a:t>
            </a:r>
            <a:endParaRPr sz="1725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350442"/>
            <a:ext cx="6000750" cy="1623965"/>
          </a:xfrm>
          <a:prstGeom prst="rect">
            <a:avLst/>
          </a:prstGeom>
        </p:spPr>
      </p:pic>
      <p:sp>
        <p:nvSpPr>
          <p:cNvPr id="7" name="text-5"/>
          <p:cNvSpPr>
            <a:spLocks noGrp="1"/>
          </p:cNvSpPr>
          <p:nvPr/>
        </p:nvSpPr>
        <p:spPr>
          <a:xfrm>
            <a:off x="609600" y="5219700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报告图52局部：自检与五组负载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7162800" y="3181350"/>
          <a:ext cx="4419600" cy="2495550"/>
        </p:xfrm>
        <a:graphic>
          <a:graphicData uri="http://schemas.openxmlformats.org/drawingml/2006/table">
            <a:tbl>
              <a:tblPr/>
              <a:tblGrid>
                <a:gridCol w="2152650"/>
                <a:gridCol w="2266950"/>
              </a:tblGrid>
              <a:tr h="4991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设置</a:t>
                      </a:r>
                      <a:endParaRPr sz="15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子进程数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CPU亲和性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taskset -c 0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两组nice值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 / 10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计算与休眠负载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保持一致</a:t>
                      </a:r>
                      <a:endParaRPr sz="15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7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先验证负载定义，再在相同条件下比较不同 nice 参数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进程创建与状态观测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22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59393"/>
            <a:ext cx="7543800" cy="3463013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609600" y="5210175"/>
            <a:ext cx="754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报告图53局部：父子进程及状态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8724900" y="166687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父进程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8724900" y="20574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PID 4456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8724900" y="284797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五个子进程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7"/>
          <p:cNvSpPr>
            <a:spLocks noGrp="1"/>
          </p:cNvSpPr>
          <p:nvPr/>
        </p:nvSpPr>
        <p:spPr>
          <a:xfrm>
            <a:off x="8724900" y="32385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PID 4458—4462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8724900" y="402907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状态含义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8724900" y="44196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R+：运行或可运行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S+：可中断睡眠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3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PID / PPID 证明创建关系，R / S 说明样本包含不同运行阶段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事件轨迹与经历时间的统计口径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57350"/>
          <a:ext cx="6124575" cy="2295525"/>
        </p:xfrm>
        <a:graphic>
          <a:graphicData uri="http://schemas.openxmlformats.org/drawingml/2006/table">
            <a:tbl>
              <a:tblPr/>
              <a:tblGrid>
                <a:gridCol w="3190875"/>
                <a:gridCol w="2933700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事件类别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记录用途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START / EXIT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进程生命周期起止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CPU_BEGIN / CPU_END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计算阶段边界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IO_SLEEP_BEGIN / END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休眠阶段边界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4448175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T经历 = tEXIT − tSTART</a:t>
            </a:r>
            <a:endParaRPr sz="27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609600" y="5219700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包含计算、休眠和调度等待</a:t>
            </a:r>
            <a:endParaRPr sz="1875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0" y="1970436"/>
            <a:ext cx="4286250" cy="3221928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7296150" y="56673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报告图54局部：CSV 事件记录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0" name="text-7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比较前统一指标定义，避免把经历时间误当作 CPU 执行时间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nice 两组实验的经历时间对比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609600" y="1695450"/>
          <a:ext cx="72294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401050" y="17430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五进程均值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8401050" y="22288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3.634 s</a:t>
            </a:r>
            <a:endParaRPr sz="3450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8420100" y="28765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nice = 0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8401050" y="34671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148A95"/>
                </a:solidFill>
                <a:latin typeface="Noto Sans CJK SC"/>
                <a:ea typeface="Noto Sans CJK SC"/>
                <a:cs typeface="Noto Sans CJK SC"/>
              </a:rPr>
              <a:t>4.247 s</a:t>
            </a:r>
            <a:endParaRPr sz="3450" b="1">
              <a:solidFill>
                <a:srgbClr val="148A9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7"/>
          <p:cNvSpPr>
            <a:spLocks noGrp="1"/>
          </p:cNvSpPr>
          <p:nvPr/>
        </p:nvSpPr>
        <p:spPr>
          <a:xfrm>
            <a:off x="8420100" y="411480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nice = 10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8401050" y="4924425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+0.613 s   约 +16.9%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2" name="text-10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本轮均值增加，P2 差异较小；结论限于当前负载和单轮测量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3.5 多进程实验与定量对照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原始统计与运行完整性核验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25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42005"/>
            <a:ext cx="6600825" cy="2154766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609600" y="3895725"/>
            <a:ext cx="6600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报告图57局部：逐进程结果与均值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85" y="4324350"/>
            <a:ext cx="5608655" cy="1295400"/>
          </a:xfrm>
          <a:prstGeom prst="rect">
            <a:avLst/>
          </a:prstGeom>
        </p:spPr>
      </p:pic>
      <p:sp>
        <p:nvSpPr>
          <p:cNvPr id="7" name="text-4"/>
          <p:cNvSpPr>
            <a:spLocks noGrp="1"/>
          </p:cNvSpPr>
          <p:nvPr/>
        </p:nvSpPr>
        <p:spPr>
          <a:xfrm>
            <a:off x="609600" y="5695950"/>
            <a:ext cx="6600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报告图58局部：日志、脚本与退出检查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5"/>
          <p:cNvSpPr>
            <a:spLocks noGrp="1"/>
          </p:cNvSpPr>
          <p:nvPr/>
        </p:nvSpPr>
        <p:spPr>
          <a:xfrm>
            <a:off x="7877175" y="1666875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日志完整性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6"/>
          <p:cNvSpPr>
            <a:spLocks noGrp="1"/>
          </p:cNvSpPr>
          <p:nvPr/>
        </p:nvSpPr>
        <p:spPr>
          <a:xfrm>
            <a:off x="7877175" y="2057400"/>
            <a:ext cx="37052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两组 CSV 各 47 行，包含表头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7"/>
          <p:cNvSpPr>
            <a:spLocks noGrp="1"/>
          </p:cNvSpPr>
          <p:nvPr/>
        </p:nvSpPr>
        <p:spPr>
          <a:xfrm>
            <a:off x="7877175" y="2971800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运行结束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8"/>
          <p:cNvSpPr>
            <a:spLocks noGrp="1"/>
          </p:cNvSpPr>
          <p:nvPr/>
        </p:nvSpPr>
        <p:spPr>
          <a:xfrm>
            <a:off x="7877175" y="3362325"/>
            <a:ext cx="37052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五个子进程均完成并回收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-9"/>
          <p:cNvSpPr>
            <a:spLocks noGrp="1"/>
          </p:cNvSpPr>
          <p:nvPr/>
        </p:nvSpPr>
        <p:spPr>
          <a:xfrm>
            <a:off x="7877175" y="4276725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后续改进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-10"/>
          <p:cNvSpPr>
            <a:spLocks noGrp="1"/>
          </p:cNvSpPr>
          <p:nvPr/>
        </p:nvSpPr>
        <p:spPr>
          <a:xfrm>
            <a:off x="7877175" y="4667250"/>
            <a:ext cx="37052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重复多轮，控制竞争任务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统计均值与离散程度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5" name="text-12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运行完整性支持本次记录可用；稳定性能结论仍需重复实验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 openEuler 环境搭建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镜像与虚拟机配置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26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28775"/>
          <a:ext cx="5943600" cy="3457578"/>
        </p:xfrm>
        <a:graphic>
          <a:graphicData uri="http://schemas.openxmlformats.org/drawingml/2006/table">
            <a:tbl>
              <a:tblPr/>
              <a:tblGrid>
                <a:gridCol w="2047875"/>
                <a:gridCol w="3895725"/>
              </a:tblGrid>
              <a:tr h="576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配置项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本次设置</a:t>
                      </a:r>
                      <a:endParaRPr sz="17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系统镜像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openEuler 24.03 LTS SP3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体系结构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x86_64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CPU / 内存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核 / 4096 MB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磁盘 / 网络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 GB / NAT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虚拟机软件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VMware Workstation 17.5.x</a:t>
                      </a:r>
                      <a:endParaRPr sz="172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0" y="1538544"/>
            <a:ext cx="3952875" cy="3838061"/>
          </a:xfrm>
          <a:prstGeom prst="rect">
            <a:avLst/>
          </a:prstGeom>
        </p:spPr>
      </p:pic>
      <p:sp>
        <p:nvSpPr>
          <p:cNvPr id="6" name="text-3"/>
          <p:cNvSpPr>
            <a:spLocks noGrp="1"/>
          </p:cNvSpPr>
          <p:nvPr/>
        </p:nvSpPr>
        <p:spPr>
          <a:xfrm>
            <a:off x="7296150" y="5457825"/>
            <a:ext cx="3952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报告图61：虚拟机配置摘要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8" name="text-5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实验完成 x86_64 虚拟机安装，为后续系统实验提供环境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 openEuler 环境搭建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安装流程与用户配置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27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65" y="1647825"/>
            <a:ext cx="5924746" cy="3971925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609600" y="5695950"/>
            <a:ext cx="6696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报告图62：安装信息摘要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7877175" y="1676400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安装设置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7877175" y="2066925"/>
            <a:ext cx="37052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中文，Asia/Shanghai，本地 ISO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7877175" y="2943225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磁盘与软件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-7"/>
          <p:cNvSpPr>
            <a:spLocks noGrp="1"/>
          </p:cNvSpPr>
          <p:nvPr/>
        </p:nvSpPr>
        <p:spPr>
          <a:xfrm>
            <a:off x="7877175" y="3333750"/>
            <a:ext cx="37052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自动分区，服务器软件环境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7877175" y="4210050"/>
            <a:ext cx="3705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用户与启动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9"/>
          <p:cNvSpPr>
            <a:spLocks noGrp="1"/>
          </p:cNvSpPr>
          <p:nvPr/>
        </p:nvSpPr>
        <p:spPr>
          <a:xfrm>
            <a:off x="7877175" y="4600575"/>
            <a:ext cx="37052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配置 root 和 student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安装完成后重启进入命令行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3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镜像、分区、网络与用户设置完成后，进入首次启动验证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 openEuler 环境搭建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系统版本、地址与外网连通性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28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47825"/>
          <a:ext cx="5838825" cy="2571752"/>
        </p:xfrm>
        <a:graphic>
          <a:graphicData uri="http://schemas.openxmlformats.org/drawingml/2006/table">
            <a:tbl>
              <a:tblPr/>
              <a:tblGrid>
                <a:gridCol w="1809750"/>
                <a:gridCol w="4029075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验证对象</a:t>
                      </a:r>
                      <a:endParaRPr sz="165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本次结果</a:t>
                      </a:r>
                      <a:endParaRPr sz="165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发行版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openEuler 24.03 LTS-SP3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网卡与地址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ens33  192.168.230.128/24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网络连通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发 / 4 收 / 0% 丢包</a:t>
                      </a:r>
                      <a:endParaRPr sz="1650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4572000"/>
            <a:ext cx="5838825" cy="1143000"/>
          </a:xfrm>
          <a:prstGeom prst="rect">
            <a:avLst/>
          </a:prstGeom>
          <a:solidFill>
            <a:srgbClr val="F1F5F8"/>
          </a:solidFill>
          <a:ln w="0">
            <a:noFill/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781050" y="4724400"/>
            <a:ext cx="54959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cat /etc/openEuler-release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ip addr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133A60"/>
                </a:solidFill>
                <a:latin typeface="DejaVu Sans Mono"/>
                <a:ea typeface="DejaVu Sans Mono"/>
                <a:cs typeface="DejaVu Sans Mono"/>
              </a:rPr>
              <a:t>ping -c 4 www.openeuler.org</a:t>
            </a:r>
            <a:endParaRPr sz="1650" b="0">
              <a:solidFill>
                <a:srgbClr val="133A60"/>
              </a:solidFill>
              <a:latin typeface="DejaVu Sans Mono"/>
              <a:ea typeface="DejaVu Sans Mono"/>
              <a:cs typeface="DejaVu Sans Mono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675" y="1963239"/>
            <a:ext cx="4657725" cy="1064623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924675" y="3429000"/>
            <a:ext cx="465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报告图63局部：系统版本信息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75" y="4471050"/>
            <a:ext cx="4657725" cy="811501"/>
          </a:xfrm>
          <a:prstGeom prst="rect">
            <a:avLst/>
          </a:prstGeom>
        </p:spPr>
      </p:pic>
      <p:sp>
        <p:nvSpPr>
          <p:cNvPr id="10" name="text-6"/>
          <p:cNvSpPr>
            <a:spLocks noGrp="1"/>
          </p:cNvSpPr>
          <p:nvPr/>
        </p:nvSpPr>
        <p:spPr>
          <a:xfrm>
            <a:off x="6924675" y="5686425"/>
            <a:ext cx="465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报告图63局部：外网探测结果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2" name="text-8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发行版以系统文件验证，网络以地址与收发结果验证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3.6 openEuler 环境搭建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工具、SSH 与防火墙验证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29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214" y="1657350"/>
            <a:ext cx="5324773" cy="1914525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609600" y="36480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报告图64：常用工具安装结果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96310"/>
            <a:ext cx="5334000" cy="960956"/>
          </a:xfrm>
          <a:prstGeom prst="rect">
            <a:avLst/>
          </a:prstGeom>
        </p:spPr>
      </p:pic>
      <p:sp>
        <p:nvSpPr>
          <p:cNvPr id="7" name="text-4"/>
          <p:cNvSpPr>
            <a:spLocks noGrp="1"/>
          </p:cNvSpPr>
          <p:nvPr/>
        </p:nvSpPr>
        <p:spPr>
          <a:xfrm>
            <a:off x="609600" y="53340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报告图66：SSH 规则已存在，重载成功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787696"/>
            <a:ext cx="5010150" cy="1329982"/>
          </a:xfrm>
          <a:prstGeom prst="rect">
            <a:avLst/>
          </a:prstGeom>
        </p:spPr>
      </p:pic>
      <p:sp>
        <p:nvSpPr>
          <p:cNvPr id="9" name="text-5"/>
          <p:cNvSpPr>
            <a:spLocks noGrp="1"/>
          </p:cNvSpPr>
          <p:nvPr/>
        </p:nvSpPr>
        <p:spPr>
          <a:xfrm>
            <a:off x="6572250" y="3324225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报告图65：sshd 为 active (running)</a:t>
            </a:r>
            <a:endParaRPr sz="127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-6"/>
          <p:cNvSpPr>
            <a:spLocks noGrp="1"/>
          </p:cNvSpPr>
          <p:nvPr/>
        </p:nvSpPr>
        <p:spPr>
          <a:xfrm>
            <a:off x="6572250" y="3781425"/>
            <a:ext cx="501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虚拟机内已验证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-7"/>
          <p:cNvSpPr>
            <a:spLocks noGrp="1"/>
          </p:cNvSpPr>
          <p:nvPr/>
        </p:nvSpPr>
        <p:spPr>
          <a:xfrm>
            <a:off x="6572250" y="4171950"/>
            <a:ext cx="5010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工具可用、SSH启动、防火墙放行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-8"/>
          <p:cNvSpPr>
            <a:spLocks noGrp="1"/>
          </p:cNvSpPr>
          <p:nvPr/>
        </p:nvSpPr>
        <p:spPr>
          <a:xfrm>
            <a:off x="6572250" y="4810125"/>
            <a:ext cx="501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主机连接条件</a:t>
            </a:r>
            <a:endParaRPr sz="1875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-9"/>
          <p:cNvSpPr>
            <a:spLocks noGrp="1"/>
          </p:cNvSpPr>
          <p:nvPr/>
        </p:nvSpPr>
        <p:spPr>
          <a:xfrm>
            <a:off x="6572250" y="5200650"/>
            <a:ext cx="5010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还需确认路由、NAT转发或桥接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15" name="text-11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服务状态与防火墙验证完成；主机到虚拟机的登录链路需另行验证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333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实验总结</a:t>
            </a:r>
            <a:endParaRPr sz="12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7239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进程管理的核心认识与后续改进</a:t>
            </a:r>
            <a:endParaRPr sz="300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477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lnSpc>
                <a:spcPct val="115000"/>
              </a:lnSpc>
              <a:buNone/>
              <a:def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30</a:t>
            </a:r>
            <a:endParaRPr sz="1125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09725"/>
          <a:ext cx="10972800" cy="2762250"/>
        </p:xfrm>
        <a:graphic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实验内容</a:t>
                      </a:r>
                      <a:endParaRPr sz="18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本次形成的认识</a:t>
                      </a:r>
                      <a:endParaRPr sz="18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133A6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3.1—3.2 观察与控制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 PID、状态和 wait 理解进程生命周期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3.3—3.4 队列与调度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状态迁移与运行次序依赖正确的队列操作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3.5 日志与数据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在统一统计口径下比较受控实验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3.6 系统环境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2A3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用版本、网络和服务结果验证安装</a:t>
                      </a:r>
                      <a:endParaRPr sz="1875" b="0">
                        <a:solidFill>
                          <a:srgbClr val="1D2A39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48006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6DA7"/>
                </a:solidFill>
                <a:latin typeface="Noto Sans CJK SC"/>
                <a:ea typeface="Noto Sans CJK SC"/>
                <a:cs typeface="Noto Sans CJK SC"/>
              </a:rPr>
              <a:t>后续改进</a:t>
            </a:r>
            <a:endParaRPr sz="1575" b="1">
              <a:solidFill>
                <a:srgbClr val="246D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2419350" y="4800600"/>
            <a:ext cx="916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D2A39"/>
                </a:solidFill>
                <a:latin typeface="Noto Sans CJK SC"/>
                <a:ea typeface="Noto Sans CJK SC"/>
                <a:cs typeface="Noto Sans CJK SC"/>
              </a:rPr>
              <a:t>队列边界处理    多轮统计对照    虚拟机快照与连接验证</a:t>
            </a:r>
            <a:endParaRPr sz="1950" b="0">
              <a:solidFill>
                <a:srgbClr val="1D2A3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609600" y="55435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184"/>
                </a:solidFill>
                <a:latin typeface="Noto Sans CJK SC"/>
                <a:ea typeface="Noto Sans CJK SC"/>
                <a:cs typeface="Noto Sans CJK SC"/>
              </a:rPr>
              <a:t>小组成员：陈心怡、杨骅、李金盘、李玥辰</a:t>
            </a:r>
            <a:endParaRPr sz="1650" b="0">
              <a:solidFill>
                <a:srgbClr val="5E718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D4DFE8"/>
          </a:solidFill>
          <a:ln w="0">
            <a:noFill/>
            <a:prstDash val="solid"/>
          </a:ln>
        </p:spPr>
      </p:sp>
      <p:sp>
        <p:nvSpPr>
          <p:cNvPr id="9" name="text-7"/>
          <p:cNvSpPr>
            <a:spLocks noGrp="1"/>
          </p:cNvSpPr>
          <p:nvPr/>
        </p:nvSpPr>
        <p:spPr>
          <a:xfrm>
            <a:off x="609600" y="6115050"/>
            <a:ext cx="10744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33A60"/>
                </a:solidFill>
                <a:latin typeface="Noto Sans CJK SC"/>
                <a:ea typeface="Noto Sans CJK SC"/>
                <a:cs typeface="Noto Sans CJK SC"/>
              </a:rPr>
              <a:t>用运行证据解释原理，用清晰口径约束结论</a:t>
            </a:r>
            <a:endParaRPr sz="1650" b="1">
              <a:solidFill>
                <a:srgbClr val="133A60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5532</Words>
  <Application>WPS 演示</Application>
  <PresentationFormat>Converted Presentation</PresentationFormat>
  <Paragraphs>959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宋体</vt:lpstr>
      <vt:lpstr>Wingdings</vt:lpstr>
      <vt:lpstr>Noto Sans CJK SC</vt:lpstr>
      <vt:lpstr>FFont-Family</vt:lpstr>
      <vt:lpstr>DejaVu Sans Mono</vt:lpstr>
      <vt:lpstr>微软雅黑</vt:lpstr>
      <vt:lpstr>Arial Unicode MS</vt:lpstr>
      <vt:lpstr>Aptos</vt:lpstr>
      <vt:lpstr>Segoe UI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李玥辰</cp:lastModifiedBy>
  <cp:revision>1</cp:revision>
  <dcterms:created xsi:type="dcterms:W3CDTF">2026-10-29T02:36:56Z</dcterms:created>
  <dcterms:modified xsi:type="dcterms:W3CDTF">2026-10-29T02:36:56Z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C444AD9A729849FE9E84E1C67572227B_13</vt:lpwstr>
  </property>
  <property fmtid="{D5CDD505-2E9C-101B-9397-08002B2CF9AE}" pid="3" name="KSOProductBuildVer">
    <vt:lpwstr>2052-12.1.0.28488</vt:lpwstr>
  </property>
</Properties>
</file>