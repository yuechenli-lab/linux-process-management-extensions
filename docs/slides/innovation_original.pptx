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这一页扩展的是3.3：原实验靠手动按 s、w 观察。我们的新增思路是事件驱动地运行队列状态机，每一步都检查链表是否有环、进程是否重复、头尾指针是否一致，并覆盖空队列和单结点等边界。代码尚待 Work 实测，不能说已经通过。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原PPT第19页的缺口：以前只有三种调度规则，没有统一工作负载的定量比较。我们新增可复现的小型调度模拟器，同一任务列表输入FCFS、非抢占SJF、RR，用甘特图和平均等待、周转、首次响应等指标进行比较。图中A5、B2、C3与q2是理论推演示例，必须由代码验证后再展示为已验证结果。注意这是教学级调度模拟，不是 Linux 内核实时调度。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PPT第24到25页已经做了nice=0和10的多进程对照，数值分别是3.634秒、4.247秒，但只是一轮。我们不重复展示这张图，而是加入有无固定竞争负载两个条件，每种nice至少10轮，统一CPU绑定、工作量和测量口径，输出原始CSV和误差线。强调nice的影响应在竞争条件下解释，统计只能支持所测环境结论，不能把单次结果说成调度规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237744"/>
            <a:ext cx="914400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36FA6"/>
                </a:solidFill>
                <a:latin typeface="Noto Sans CJK SC"/>
              </a:defRPr>
            </a:pPr>
            <a:r>
              <a:t>创新一 · 3.3 进程状态转换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03504"/>
            <a:ext cx="1101852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600" b="1">
                <a:solidFill>
                  <a:srgbClr val="133B60"/>
                </a:solidFill>
                <a:latin typeface="Noto Sans CJK SC"/>
              </a:defRPr>
            </a:pPr>
            <a:r>
              <a:t>从“手动按键观察”到 PCB 双队列不变量测试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566C7D"/>
                </a:solidFill>
                <a:latin typeface="Noto Sans CJK SC"/>
              </a:defRPr>
            </a:pPr>
            <a:r>
              <a:t>重点难点：block / wake 不只是改变 state，还必须保证链表摘链、挂链和首尾指针一致。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09360"/>
            <a:ext cx="11018520" cy="0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09944"/>
            <a:ext cx="89611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操作系统原理 · Linux 进程管理  |  实验创新方案（待代码验证）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09944"/>
            <a:ext cx="594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01 / 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47088"/>
            <a:ext cx="5577840" cy="3529584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48256"/>
            <a:ext cx="4480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700" b="1">
                <a:solidFill>
                  <a:srgbClr val="133B60"/>
                </a:solidFill>
                <a:latin typeface="Noto Sans CJK SC"/>
              </a:defRPr>
            </a:pPr>
            <a:r>
              <a:t>原实验模型（教学级 PCB 队列）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2743200"/>
            <a:ext cx="1298448" cy="548640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770632"/>
            <a:ext cx="1152144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400" b="1">
                <a:solidFill>
                  <a:srgbClr val="133B60"/>
                </a:solidFill>
                <a:latin typeface="Noto Sans CJK SC"/>
              </a:defRPr>
            </a:pPr>
            <a:r>
              <a:t>就绪队列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743200"/>
            <a:ext cx="1188720" cy="54864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2770632"/>
            <a:ext cx="1042416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188783"/>
                </a:solidFill>
                <a:latin typeface="Noto Sans CJK SC"/>
              </a:defRPr>
            </a:pPr>
            <a:r>
              <a:t>运行头结点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2743200"/>
            <a:ext cx="1261872" cy="548640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770632"/>
            <a:ext cx="1115568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400" b="1">
                <a:solidFill>
                  <a:srgbClr val="133B60"/>
                </a:solidFill>
                <a:latin typeface="Noto Sans CJK SC"/>
              </a:defRPr>
            </a:pPr>
            <a:r>
              <a:t>阻塞队列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85416" y="3017520"/>
            <a:ext cx="347472" cy="0"/>
          </a:xfrm>
          <a:prstGeom prst="line">
            <a:avLst/>
          </a:prstGeom>
          <a:ln w="25400">
            <a:solidFill>
              <a:srgbClr val="236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hevron 18"/>
          <p:cNvSpPr/>
          <p:nvPr/>
        </p:nvSpPr>
        <p:spPr>
          <a:xfrm>
            <a:off x="2468880" y="2948939"/>
            <a:ext cx="118872" cy="137160"/>
          </a:xfrm>
          <a:prstGeom prst="chevron">
            <a:avLst/>
          </a:prstGeom>
          <a:solidFill>
            <a:srgbClr val="23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758184" y="3017520"/>
            <a:ext cx="502920" cy="0"/>
          </a:xfrm>
          <a:prstGeom prst="line">
            <a:avLst/>
          </a:prstGeom>
          <a:ln w="25400">
            <a:solidFill>
              <a:srgbClr val="236F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>
            <a:off x="4197096" y="2948939"/>
            <a:ext cx="118872" cy="137160"/>
          </a:xfrm>
          <a:prstGeom prst="chevron">
            <a:avLst/>
          </a:prstGeom>
          <a:solidFill>
            <a:srgbClr val="23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557016"/>
            <a:ext cx="4901184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566C7D"/>
                </a:solidFill>
                <a:latin typeface="DejaVu Sans Mono"/>
              </a:defRPr>
            </a:pPr>
            <a:r>
              <a:t>输入事件：step / block / wake / finish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" y="4261104"/>
            <a:ext cx="5010912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343400"/>
            <a:ext cx="4636008" cy="5577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400" b="1">
                <a:solidFill>
                  <a:srgbClr val="133B60"/>
                </a:solidFill>
                <a:latin typeface="Noto Sans CJK SC"/>
              </a:defRPr>
            </a:pPr>
            <a:r>
              <a:t>每次操作后记录：队列快照 + 状态 + 检查结果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5936" y="1847088"/>
            <a:ext cx="5257800" cy="3529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2057400"/>
            <a:ext cx="462686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700" b="1">
                <a:solidFill>
                  <a:srgbClr val="133B60"/>
                </a:solidFill>
                <a:latin typeface="Noto Sans CJK SC"/>
              </a:defRPr>
            </a:pPr>
            <a:r>
              <a:t>四类自动化检查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2615184"/>
            <a:ext cx="4663440" cy="475488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11696" y="2651760"/>
            <a:ext cx="12070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① 唯一性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2651760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53747"/>
                </a:solidFill>
                <a:latin typeface="Noto Sans CJK SC"/>
              </a:defRPr>
            </a:pPr>
            <a:r>
              <a:t>活动 PCB 不重复、不丢失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3182112"/>
            <a:ext cx="4663440" cy="475488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1696" y="3218688"/>
            <a:ext cx="12070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② 状态一致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8" y="3218688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53747"/>
                </a:solidFill>
                <a:latin typeface="Noto Sans CJK SC"/>
              </a:defRPr>
            </a:pPr>
            <a:r>
              <a:t>阻塞队列为 b；运行头结点可为 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749039"/>
            <a:ext cx="4663440" cy="475488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11696" y="3785615"/>
            <a:ext cx="12070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③ 链表完整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7848" y="3785615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53747"/>
                </a:solidFill>
                <a:latin typeface="Noto Sans CJK SC"/>
              </a:defRPr>
            </a:pPr>
            <a:r>
              <a:t>无环；head / tail / next 一致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315968"/>
            <a:ext cx="4663440" cy="475488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1696" y="4352544"/>
            <a:ext cx="120700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④ 边界操作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7848" y="4352544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0">
                <a:solidFill>
                  <a:srgbClr val="253747"/>
                </a:solidFill>
                <a:latin typeface="Noto Sans CJK SC"/>
              </a:defRPr>
            </a:pPr>
            <a:r>
              <a:t>空队列、单结点、重复唤醒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" y="5586984"/>
            <a:ext cx="11018520" cy="484632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623560"/>
            <a:ext cx="105613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188783"/>
                </a:solidFill>
                <a:latin typeface="Noto Sans CJK SC"/>
              </a:defRPr>
            </a:pPr>
            <a:r>
              <a:t>交付证据：自动化测试结果 + 可回放的状态轨迹 CSV；报告失败时给出首次违规操作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237744"/>
            <a:ext cx="914400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36FA6"/>
                </a:solidFill>
                <a:latin typeface="Noto Sans CJK SC"/>
              </a:defRPr>
            </a:pPr>
            <a:r>
              <a:t>创新二 · 3.4 进程调度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03504"/>
            <a:ext cx="1101852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600" b="1">
                <a:solidFill>
                  <a:srgbClr val="133B60"/>
                </a:solidFill>
                <a:latin typeface="Noto Sans CJK SC"/>
              </a:defRPr>
            </a:pPr>
            <a:r>
              <a:t>统一工作负载：FCFS / 非抢占 SJF / RR 定量对照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566C7D"/>
                </a:solidFill>
                <a:latin typeface="Noto Sans CJK SC"/>
              </a:defRPr>
            </a:pPr>
            <a:r>
              <a:t>重点难点：算法规则相同不代表性能结论成立；必须让三种算法处理完全相同的任务集合。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09360"/>
            <a:ext cx="11018520" cy="0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09944"/>
            <a:ext cx="89611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操作系统原理 · Linux 进程管理  |  实验创新方案（待代码验证）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09944"/>
            <a:ext cx="594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02 / 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11045952" cy="704088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38528"/>
            <a:ext cx="19933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133B60"/>
                </a:solidFill>
                <a:latin typeface="Noto Sans CJK SC"/>
              </a:defRPr>
            </a:pPr>
            <a:r>
              <a:t>统一任务输入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947672"/>
            <a:ext cx="2487168" cy="429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1975103"/>
            <a:ext cx="2340864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1">
                <a:solidFill>
                  <a:srgbClr val="133B60"/>
                </a:solidFill>
                <a:latin typeface="Noto Sans CJK SC"/>
              </a:defRPr>
            </a:pPr>
            <a:r>
              <a:t>A  到达 0 · 运行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947672"/>
            <a:ext cx="2487168" cy="429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50992" y="1975103"/>
            <a:ext cx="2340864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1">
                <a:solidFill>
                  <a:srgbClr val="133B60"/>
                </a:solidFill>
                <a:latin typeface="Noto Sans CJK SC"/>
              </a:defRPr>
            </a:pPr>
            <a:r>
              <a:t>B  到达 0 · 运行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947672"/>
            <a:ext cx="2487168" cy="429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975103"/>
            <a:ext cx="2340864" cy="3749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1">
                <a:solidFill>
                  <a:srgbClr val="133B60"/>
                </a:solidFill>
                <a:latin typeface="Noto Sans CJK SC"/>
              </a:defRPr>
            </a:pPr>
            <a:r>
              <a:t>C  到达 0 · 运行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2761488"/>
            <a:ext cx="201168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133B60"/>
                </a:solidFill>
                <a:latin typeface="Noto Sans CJK SC"/>
              </a:defRPr>
            </a:pPr>
            <a:r>
              <a:t>调度轨迹（理论）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3127248"/>
            <a:ext cx="21031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88920" y="3337560"/>
            <a:ext cx="0" cy="1591056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465575" y="3127248"/>
            <a:ext cx="21031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38727" y="3337560"/>
            <a:ext cx="0" cy="1591056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15383" y="3127248"/>
            <a:ext cx="21031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88536" y="3337560"/>
            <a:ext cx="0" cy="1591056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65192" y="3127248"/>
            <a:ext cx="21031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38344" y="3337560"/>
            <a:ext cx="0" cy="1591056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15000" y="3127248"/>
            <a:ext cx="21031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88152" y="3337560"/>
            <a:ext cx="0" cy="1591056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64807" y="3127248"/>
            <a:ext cx="21031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37959" y="3337560"/>
            <a:ext cx="0" cy="1591056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14616" y="3127248"/>
            <a:ext cx="21031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6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287768" y="3337560"/>
            <a:ext cx="0" cy="1591056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64423" y="3127248"/>
            <a:ext cx="21031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7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37575" y="3337560"/>
            <a:ext cx="0" cy="1591056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14232" y="3127248"/>
            <a:ext cx="21031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8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787384" y="3337560"/>
            <a:ext cx="0" cy="1591056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464040" y="3127248"/>
            <a:ext cx="21031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537192" y="3337560"/>
            <a:ext cx="0" cy="1591056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213848" y="3127248"/>
            <a:ext cx="21031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10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287000" y="3337560"/>
            <a:ext cx="0" cy="1591056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04672" y="3493008"/>
            <a:ext cx="156362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133B60"/>
                </a:solidFill>
                <a:latin typeface="Noto Sans CJK SC"/>
              </a:defRPr>
            </a:pPr>
            <a:r>
              <a:t>FCFS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02636" y="3401568"/>
            <a:ext cx="3721607" cy="411480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07208" y="3429000"/>
            <a:ext cx="3712463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51675" y="3401568"/>
            <a:ext cx="1472184" cy="41148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56247" y="3429000"/>
            <a:ext cx="1463039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188783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51292" y="3401568"/>
            <a:ext cx="2221992" cy="411480"/>
          </a:xfrm>
          <a:prstGeom prst="roundRect">
            <a:avLst>
              <a:gd name="adj" fmla="val 8000"/>
            </a:avLst>
          </a:prstGeom>
          <a:solidFill>
            <a:srgbClr val="FDF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55863" y="3429000"/>
            <a:ext cx="22128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B16922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" y="4005072"/>
            <a:ext cx="156362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133B60"/>
                </a:solidFill>
                <a:latin typeface="Noto Sans CJK SC"/>
              </a:defRPr>
            </a:pPr>
            <a:r>
              <a:t>SJF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02636" y="3913632"/>
            <a:ext cx="1472184" cy="41148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07208" y="3941064"/>
            <a:ext cx="1463039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188783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02251" y="3913632"/>
            <a:ext cx="2221992" cy="411480"/>
          </a:xfrm>
          <a:prstGeom prst="roundRect">
            <a:avLst>
              <a:gd name="adj" fmla="val 8000"/>
            </a:avLst>
          </a:prstGeom>
          <a:solidFill>
            <a:srgbClr val="FDF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06823" y="3941064"/>
            <a:ext cx="22128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B16922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51675" y="3913632"/>
            <a:ext cx="3721607" cy="411480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6247" y="3941064"/>
            <a:ext cx="3712463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" y="4517136"/>
            <a:ext cx="156362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133B60"/>
                </a:solidFill>
                <a:latin typeface="Noto Sans CJK SC"/>
              </a:defRPr>
            </a:pPr>
            <a:r>
              <a:t>RR q=2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802636" y="4425696"/>
            <a:ext cx="1472184" cy="411480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07208" y="4453128"/>
            <a:ext cx="1463039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02251" y="4425696"/>
            <a:ext cx="1472184" cy="411480"/>
          </a:xfrm>
          <a:prstGeom prst="roundRect">
            <a:avLst>
              <a:gd name="adj" fmla="val 8000"/>
            </a:avLst>
          </a:prstGeom>
          <a:solidFill>
            <a:srgbClr val="E5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06823" y="4453128"/>
            <a:ext cx="1463039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188783"/>
                </a:solidFill>
                <a:latin typeface="Noto Sans CJK SC"/>
              </a:defRPr>
            </a:pPr>
            <a:r>
              <a:t>B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01868" y="4425696"/>
            <a:ext cx="1472184" cy="411480"/>
          </a:xfrm>
          <a:prstGeom prst="roundRect">
            <a:avLst>
              <a:gd name="adj" fmla="val 8000"/>
            </a:avLst>
          </a:prstGeom>
          <a:solidFill>
            <a:srgbClr val="FDF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06440" y="4453128"/>
            <a:ext cx="1463039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B16922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01483" y="4425696"/>
            <a:ext cx="1472184" cy="411480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06055" y="4453128"/>
            <a:ext cx="1463039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01100" y="4425696"/>
            <a:ext cx="722375" cy="411480"/>
          </a:xfrm>
          <a:prstGeom prst="roundRect">
            <a:avLst>
              <a:gd name="adj" fmla="val 8000"/>
            </a:avLst>
          </a:prstGeom>
          <a:solidFill>
            <a:srgbClr val="FDF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05672" y="4453128"/>
            <a:ext cx="713231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B16922"/>
                </a:solidFill>
                <a:latin typeface="Noto Sans CJK SC"/>
              </a:defRPr>
            </a:pPr>
            <a:r>
              <a:t>C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550908" y="4425696"/>
            <a:ext cx="722375" cy="411480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55480" y="4453128"/>
            <a:ext cx="713231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9224" y="5202936"/>
            <a:ext cx="10872216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0392" y="5285232"/>
            <a:ext cx="20116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133B60"/>
                </a:solidFill>
                <a:latin typeface="Noto Sans CJK SC"/>
              </a:defRPr>
            </a:pPr>
            <a:r>
              <a:t>输出比较指标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98648" y="5276088"/>
            <a:ext cx="81930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0">
                <a:solidFill>
                  <a:srgbClr val="253747"/>
                </a:solidFill>
                <a:latin typeface="Noto Sans CJK SC"/>
              </a:defRPr>
            </a:pPr>
            <a:r>
              <a:t>平均等待时间 · 平均周转时间 · 首次响应时间 · 上下文切换次数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" y="5980176"/>
            <a:ext cx="10716768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同一输入得到不同轨迹；上述轨迹是计算示例，实际输出需由程序和单元测试核验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3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237744"/>
            <a:ext cx="914400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236FA6"/>
                </a:solidFill>
                <a:latin typeface="Noto Sans CJK SC"/>
              </a:defRPr>
            </a:pPr>
            <a:r>
              <a:t>创新三 · 3.5 多进程对照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603504"/>
            <a:ext cx="1101852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600" b="1">
                <a:solidFill>
                  <a:srgbClr val="133B60"/>
                </a:solidFill>
                <a:latin typeface="Noto Sans CJK SC"/>
              </a:defRPr>
            </a:pPr>
            <a:r>
              <a:t>nice 单次观测 → 多轮、竞争条件下的可重复实验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0">
                <a:solidFill>
                  <a:srgbClr val="566C7D"/>
                </a:solidFill>
                <a:latin typeface="Noto Sans CJK SC"/>
              </a:defRPr>
            </a:pPr>
            <a:r>
              <a:t>重点难点：nice 是相对调度权重；缺乏 CPU 竞争、亲和性控制或重复测量时，结论容易被误读。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09360"/>
            <a:ext cx="11018520" cy="0"/>
          </a:xfrm>
          <a:prstGeom prst="line">
            <a:avLst/>
          </a:prstGeom>
          <a:ln w="12700">
            <a:solidFill>
              <a:srgbClr val="CF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6409944"/>
            <a:ext cx="89611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操作系统原理 · Linux 进程管理  |  实验创新方案（待代码验证）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09944"/>
            <a:ext cx="594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566C7D"/>
                </a:solidFill>
                <a:latin typeface="Noto Sans CJK SC"/>
              </a:defRPr>
            </a:pPr>
            <a:r>
              <a:t>03 / 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5513832" cy="3593592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039112"/>
            <a:ext cx="498348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700" b="1">
                <a:solidFill>
                  <a:srgbClr val="133B60"/>
                </a:solidFill>
                <a:latin typeface="Noto Sans CJK SC"/>
              </a:defRPr>
            </a:pPr>
            <a:r>
              <a:t>2 × 2 控制变量实验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42616"/>
            <a:ext cx="15544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133B60"/>
                </a:solidFill>
                <a:latin typeface="Noto Sans CJK SC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2286000" y="2532888"/>
            <a:ext cx="1572768" cy="457200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9152" y="2560320"/>
            <a:ext cx="1426464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133B60"/>
                </a:solidFill>
                <a:latin typeface="Noto Sans CJK SC"/>
              </a:defRPr>
            </a:pPr>
            <a:r>
              <a:t>nice =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78224" y="2532888"/>
            <a:ext cx="1591056" cy="457200"/>
          </a:xfrm>
          <a:prstGeom prst="roundRect">
            <a:avLst>
              <a:gd name="adj" fmla="val 8000"/>
            </a:avLst>
          </a:prstGeom>
          <a:solidFill>
            <a:srgbClr val="E3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376" y="2560320"/>
            <a:ext cx="1444752" cy="4023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133B60"/>
                </a:solidFill>
                <a:latin typeface="Noto Sans CJK SC"/>
              </a:defRPr>
            </a:pPr>
            <a:r>
              <a:t>nice =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227832"/>
            <a:ext cx="1298448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55263"/>
            <a:ext cx="1152144" cy="5577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133B60"/>
                </a:solidFill>
                <a:latin typeface="Noto Sans CJK SC"/>
              </a:defRPr>
            </a:pPr>
            <a:r>
              <a:t>无竞争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069080"/>
            <a:ext cx="1298448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96512"/>
            <a:ext cx="1152144" cy="5577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133B60"/>
                </a:solidFill>
                <a:latin typeface="Noto Sans CJK SC"/>
              </a:defRPr>
            </a:pPr>
            <a:r>
              <a:t>固定竞争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227832"/>
            <a:ext cx="158191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13432" y="3319272"/>
            <a:ext cx="152704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基线 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78224" y="3227832"/>
            <a:ext cx="158191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05656" y="3319272"/>
            <a:ext cx="152704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基线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069080"/>
            <a:ext cx="158191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13432" y="4160520"/>
            <a:ext cx="152704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对照 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78224" y="4069080"/>
            <a:ext cx="1581912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05656" y="4160520"/>
            <a:ext cx="1527048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对照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983480"/>
            <a:ext cx="484632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1">
                <a:solidFill>
                  <a:srgbClr val="188783"/>
                </a:solidFill>
                <a:latin typeface="Noto Sans CJK SC"/>
              </a:defRPr>
            </a:pPr>
            <a:r>
              <a:t>同 CPU 绑定 · 固定工作量 · 每格重复 ≥ 10 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18504" y="1828800"/>
            <a:ext cx="5285232" cy="3593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B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2039112"/>
            <a:ext cx="4672584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700" b="1">
                <a:solidFill>
                  <a:srgbClr val="133B60"/>
                </a:solidFill>
                <a:latin typeface="Noto Sans CJK SC"/>
              </a:defRPr>
            </a:pPr>
            <a:r>
              <a:t>从“截图”升级成统计证据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660904"/>
            <a:ext cx="4690872" cy="512064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2697480"/>
            <a:ext cx="124358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① 原始记录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46136" y="2697480"/>
            <a:ext cx="3182112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253747"/>
                </a:solidFill>
                <a:latin typeface="Noto Sans CJK SC"/>
              </a:defRPr>
            </a:pPr>
            <a:r>
              <a:t>每轮耗时、CPU 时间、nice 和竞争条件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3264408"/>
            <a:ext cx="4690872" cy="512064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3300984"/>
            <a:ext cx="124358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② 重复统计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3300984"/>
            <a:ext cx="3182112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253747"/>
                </a:solidFill>
                <a:latin typeface="Noto Sans CJK SC"/>
              </a:defRPr>
            </a:pPr>
            <a:r>
              <a:t>均值、中位数、标准差与误差线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3867912"/>
            <a:ext cx="4690872" cy="512064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3904488"/>
            <a:ext cx="124358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③ 实验检查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46136" y="3904488"/>
            <a:ext cx="3182112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253747"/>
                </a:solidFill>
                <a:latin typeface="Noto Sans CJK SC"/>
              </a:defRPr>
            </a:pPr>
            <a:r>
              <a:t>CPU 亲和性、异常退出、任务数一致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4471416"/>
            <a:ext cx="4690872" cy="512064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4507992"/>
            <a:ext cx="124358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236FA6"/>
                </a:solidFill>
                <a:latin typeface="Noto Sans CJK SC"/>
              </a:defRPr>
            </a:pPr>
            <a:r>
              <a:t>④ 结论边界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46136" y="4507992"/>
            <a:ext cx="3182112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0">
                <a:solidFill>
                  <a:srgbClr val="253747"/>
                </a:solidFill>
                <a:latin typeface="Noto Sans CJK SC"/>
              </a:defRPr>
            </a:pPr>
            <a:r>
              <a:t>区分本机观测和一般性规律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605272"/>
            <a:ext cx="11009376" cy="466344"/>
          </a:xfrm>
          <a:prstGeom prst="roundRect">
            <a:avLst>
              <a:gd name="adj" fmla="val 8000"/>
            </a:avLst>
          </a:prstGeom>
          <a:solidFill>
            <a:srgbClr val="FDF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5660136"/>
            <a:ext cx="10552176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1">
                <a:solidFill>
                  <a:srgbClr val="B16922"/>
                </a:solidFill>
                <a:latin typeface="Noto Sans CJK SC"/>
              </a:defRPr>
            </a:pPr>
            <a:r>
              <a:t>原稿单轮：nice=0 为 3.634 s，nice=10 为 4.247 s；这只是已记录的观测，不是稳定因果结论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